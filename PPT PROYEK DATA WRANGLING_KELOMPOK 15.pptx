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Poppins Bold" charset="1" panose="00000800000000000000"/>
      <p:regular r:id="rId25"/>
    </p:embeddedFont>
    <p:embeddedFont>
      <p:font typeface="Poppins" charset="1" panose="00000500000000000000"/>
      <p:regular r:id="rId26"/>
    </p:embeddedFont>
    <p:embeddedFont>
      <p:font typeface="Open Sans Bold" charset="1" panose="020B080603050402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30.pn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30.pn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30.pn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3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37.png" Type="http://schemas.openxmlformats.org/officeDocument/2006/relationships/image"/><Relationship Id="rId9" Target="../media/image3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39.png" Type="http://schemas.openxmlformats.org/officeDocument/2006/relationships/image"/><Relationship Id="rId9" Target="../media/image4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4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4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43.png" Type="http://schemas.openxmlformats.org/officeDocument/2006/relationships/image"/><Relationship Id="rId7" Target="../media/image4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45.png" Type="http://schemas.openxmlformats.org/officeDocument/2006/relationships/image"/><Relationship Id="rId7" Target="../media/image4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4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1.png" Type="http://schemas.openxmlformats.org/officeDocument/2006/relationships/image"/><Relationship Id="rId3" Target="../media/image48.png" Type="http://schemas.openxmlformats.org/officeDocument/2006/relationships/image"/><Relationship Id="rId4" Target="../media/image49.svg" Type="http://schemas.openxmlformats.org/officeDocument/2006/relationships/image"/><Relationship Id="rId5" Target="../media/image50.png" Type="http://schemas.openxmlformats.org/officeDocument/2006/relationships/image"/><Relationship Id="rId6" Target="../media/image51.svg" Type="http://schemas.openxmlformats.org/officeDocument/2006/relationships/image"/><Relationship Id="rId7" Target="../media/image52.png" Type="http://schemas.openxmlformats.org/officeDocument/2006/relationships/image"/><Relationship Id="rId8" Target="../media/image53.svg" Type="http://schemas.openxmlformats.org/officeDocument/2006/relationships/image"/><Relationship Id="rId9" Target="../media/image1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54.png" Type="http://schemas.openxmlformats.org/officeDocument/2006/relationships/image"/><Relationship Id="rId6" Target="../media/image5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sp>
        <p:nvSpPr>
          <p:cNvPr name="Freeform 2" id="2"/>
          <p:cNvSpPr/>
          <p:nvPr/>
        </p:nvSpPr>
        <p:spPr>
          <a:xfrm flipH="false" flipV="false" rot="0">
            <a:off x="-5195613" y="-3936424"/>
            <a:ext cx="12403186" cy="10576535"/>
          </a:xfrm>
          <a:custGeom>
            <a:avLst/>
            <a:gdLst/>
            <a:ahLst/>
            <a:cxnLst/>
            <a:rect r="r" b="b" t="t" l="l"/>
            <a:pathLst>
              <a:path h="10576535" w="12403186">
                <a:moveTo>
                  <a:pt x="0" y="0"/>
                </a:moveTo>
                <a:lnTo>
                  <a:pt x="12403187" y="0"/>
                </a:lnTo>
                <a:lnTo>
                  <a:pt x="12403187" y="10576536"/>
                </a:lnTo>
                <a:lnTo>
                  <a:pt x="0" y="10576536"/>
                </a:lnTo>
                <a:lnTo>
                  <a:pt x="0" y="0"/>
                </a:lnTo>
                <a:close/>
              </a:path>
            </a:pathLst>
          </a:custGeom>
          <a:blipFill>
            <a:blip r:embed="rId2">
              <a:alphaModFix amt="50000"/>
            </a:blip>
            <a:stretch>
              <a:fillRect l="0" t="0" r="0" b="0"/>
            </a:stretch>
          </a:blipFill>
        </p:spPr>
      </p:sp>
      <p:sp>
        <p:nvSpPr>
          <p:cNvPr name="Freeform 3" id="3"/>
          <p:cNvSpPr/>
          <p:nvPr/>
        </p:nvSpPr>
        <p:spPr>
          <a:xfrm flipH="false" flipV="false" rot="0">
            <a:off x="12376222" y="1127381"/>
            <a:ext cx="9305673" cy="6738678"/>
          </a:xfrm>
          <a:custGeom>
            <a:avLst/>
            <a:gdLst/>
            <a:ahLst/>
            <a:cxnLst/>
            <a:rect r="r" b="b" t="t" l="l"/>
            <a:pathLst>
              <a:path h="6738678" w="9305673">
                <a:moveTo>
                  <a:pt x="0" y="0"/>
                </a:moveTo>
                <a:lnTo>
                  <a:pt x="9305672" y="0"/>
                </a:lnTo>
                <a:lnTo>
                  <a:pt x="9305672" y="6738678"/>
                </a:lnTo>
                <a:lnTo>
                  <a:pt x="0" y="6738678"/>
                </a:lnTo>
                <a:lnTo>
                  <a:pt x="0" y="0"/>
                </a:lnTo>
                <a:close/>
              </a:path>
            </a:pathLst>
          </a:custGeom>
          <a:blipFill>
            <a:blip r:embed="rId3"/>
            <a:stretch>
              <a:fillRect l="0" t="-969" r="0" b="-969"/>
            </a:stretch>
          </a:blipFill>
        </p:spPr>
      </p:sp>
      <p:sp>
        <p:nvSpPr>
          <p:cNvPr name="Freeform 4" id="4"/>
          <p:cNvSpPr/>
          <p:nvPr/>
        </p:nvSpPr>
        <p:spPr>
          <a:xfrm flipH="false" flipV="false" rot="0">
            <a:off x="1005980" y="903260"/>
            <a:ext cx="8931638" cy="7145310"/>
          </a:xfrm>
          <a:custGeom>
            <a:avLst/>
            <a:gdLst/>
            <a:ahLst/>
            <a:cxnLst/>
            <a:rect r="r" b="b" t="t" l="l"/>
            <a:pathLst>
              <a:path h="7145310" w="8931638">
                <a:moveTo>
                  <a:pt x="0" y="0"/>
                </a:moveTo>
                <a:lnTo>
                  <a:pt x="8931638" y="0"/>
                </a:lnTo>
                <a:lnTo>
                  <a:pt x="8931638" y="7145310"/>
                </a:lnTo>
                <a:lnTo>
                  <a:pt x="0" y="71453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1303884" y="2629403"/>
            <a:ext cx="6751530" cy="5236655"/>
          </a:xfrm>
          <a:custGeom>
            <a:avLst/>
            <a:gdLst/>
            <a:ahLst/>
            <a:cxnLst/>
            <a:rect r="r" b="b" t="t" l="l"/>
            <a:pathLst>
              <a:path h="5236655" w="6751530">
                <a:moveTo>
                  <a:pt x="6751530" y="0"/>
                </a:moveTo>
                <a:lnTo>
                  <a:pt x="0" y="0"/>
                </a:lnTo>
                <a:lnTo>
                  <a:pt x="0" y="5236656"/>
                </a:lnTo>
                <a:lnTo>
                  <a:pt x="6751530" y="5236656"/>
                </a:lnTo>
                <a:lnTo>
                  <a:pt x="6751530" y="0"/>
                </a:lnTo>
                <a:close/>
              </a:path>
            </a:pathLst>
          </a:custGeom>
          <a:blipFill>
            <a:blip r:embed="rId6"/>
            <a:stretch>
              <a:fillRect l="0" t="0" r="0" b="0"/>
            </a:stretch>
          </a:blipFill>
        </p:spPr>
      </p:sp>
      <p:grpSp>
        <p:nvGrpSpPr>
          <p:cNvPr name="Group 6" id="6"/>
          <p:cNvGrpSpPr/>
          <p:nvPr/>
        </p:nvGrpSpPr>
        <p:grpSpPr>
          <a:xfrm rot="0">
            <a:off x="-970336" y="9503317"/>
            <a:ext cx="19527875" cy="3086100"/>
            <a:chOff x="0" y="0"/>
            <a:chExt cx="5143144" cy="812800"/>
          </a:xfrm>
        </p:grpSpPr>
        <p:sp>
          <p:nvSpPr>
            <p:cNvPr name="Freeform 7" id="7"/>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8" id="8"/>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9" id="9"/>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1762552" y="6283958"/>
            <a:ext cx="1754987" cy="1764612"/>
          </a:xfrm>
          <a:custGeom>
            <a:avLst/>
            <a:gdLst/>
            <a:ahLst/>
            <a:cxnLst/>
            <a:rect r="r" b="b" t="t" l="l"/>
            <a:pathLst>
              <a:path h="1764612" w="1754987">
                <a:moveTo>
                  <a:pt x="0" y="0"/>
                </a:moveTo>
                <a:lnTo>
                  <a:pt x="1754986" y="0"/>
                </a:lnTo>
                <a:lnTo>
                  <a:pt x="1754986" y="1764612"/>
                </a:lnTo>
                <a:lnTo>
                  <a:pt x="0" y="176461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12924662" y="6283958"/>
            <a:ext cx="1754987" cy="1764612"/>
          </a:xfrm>
          <a:custGeom>
            <a:avLst/>
            <a:gdLst/>
            <a:ahLst/>
            <a:cxnLst/>
            <a:rect r="r" b="b" t="t" l="l"/>
            <a:pathLst>
              <a:path h="1764612" w="1754987">
                <a:moveTo>
                  <a:pt x="0" y="0"/>
                </a:moveTo>
                <a:lnTo>
                  <a:pt x="1754987" y="0"/>
                </a:lnTo>
                <a:lnTo>
                  <a:pt x="1754987" y="1764612"/>
                </a:lnTo>
                <a:lnTo>
                  <a:pt x="0" y="176461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14086772" y="6283958"/>
            <a:ext cx="1754987" cy="1764612"/>
          </a:xfrm>
          <a:custGeom>
            <a:avLst/>
            <a:gdLst/>
            <a:ahLst/>
            <a:cxnLst/>
            <a:rect r="r" b="b" t="t" l="l"/>
            <a:pathLst>
              <a:path h="1764612" w="1754987">
                <a:moveTo>
                  <a:pt x="0" y="0"/>
                </a:moveTo>
                <a:lnTo>
                  <a:pt x="1754987" y="0"/>
                </a:lnTo>
                <a:lnTo>
                  <a:pt x="1754987" y="1764612"/>
                </a:lnTo>
                <a:lnTo>
                  <a:pt x="0" y="176461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9090270" y="948911"/>
            <a:ext cx="683154" cy="683154"/>
          </a:xfrm>
          <a:custGeom>
            <a:avLst/>
            <a:gdLst/>
            <a:ahLst/>
            <a:cxnLst/>
            <a:rect r="r" b="b" t="t" l="l"/>
            <a:pathLst>
              <a:path h="683154" w="683154">
                <a:moveTo>
                  <a:pt x="0" y="0"/>
                </a:moveTo>
                <a:lnTo>
                  <a:pt x="683155" y="0"/>
                </a:lnTo>
                <a:lnTo>
                  <a:pt x="683155" y="683154"/>
                </a:lnTo>
                <a:lnTo>
                  <a:pt x="0" y="683154"/>
                </a:lnTo>
                <a:lnTo>
                  <a:pt x="0" y="0"/>
                </a:lnTo>
                <a:close/>
              </a:path>
            </a:pathLst>
          </a:custGeom>
          <a:blipFill>
            <a:blip r:embed="rId11"/>
            <a:stretch>
              <a:fillRect l="0" t="0" r="0" b="0"/>
            </a:stretch>
          </a:blipFill>
        </p:spPr>
      </p:sp>
      <p:sp>
        <p:nvSpPr>
          <p:cNvPr name="Freeform 14" id="14"/>
          <p:cNvSpPr/>
          <p:nvPr/>
        </p:nvSpPr>
        <p:spPr>
          <a:xfrm flipH="false" flipV="false" rot="0">
            <a:off x="1212972" y="993847"/>
            <a:ext cx="560296" cy="614618"/>
          </a:xfrm>
          <a:custGeom>
            <a:avLst/>
            <a:gdLst/>
            <a:ahLst/>
            <a:cxnLst/>
            <a:rect r="r" b="b" t="t" l="l"/>
            <a:pathLst>
              <a:path h="614618" w="560296">
                <a:moveTo>
                  <a:pt x="0" y="0"/>
                </a:moveTo>
                <a:lnTo>
                  <a:pt x="560296" y="0"/>
                </a:lnTo>
                <a:lnTo>
                  <a:pt x="560296" y="614618"/>
                </a:lnTo>
                <a:lnTo>
                  <a:pt x="0" y="614618"/>
                </a:lnTo>
                <a:lnTo>
                  <a:pt x="0" y="0"/>
                </a:lnTo>
                <a:close/>
              </a:path>
            </a:pathLst>
          </a:custGeom>
          <a:blipFill>
            <a:blip r:embed="rId12"/>
            <a:stretch>
              <a:fillRect l="0" t="0" r="0" b="0"/>
            </a:stretch>
          </a:blipFill>
        </p:spPr>
      </p:sp>
      <p:grpSp>
        <p:nvGrpSpPr>
          <p:cNvPr name="Group 15" id="15"/>
          <p:cNvGrpSpPr/>
          <p:nvPr/>
        </p:nvGrpSpPr>
        <p:grpSpPr>
          <a:xfrm rot="0">
            <a:off x="5471799" y="7442208"/>
            <a:ext cx="5832084" cy="1344190"/>
            <a:chOff x="0" y="0"/>
            <a:chExt cx="1536022" cy="354025"/>
          </a:xfrm>
        </p:grpSpPr>
        <p:sp>
          <p:nvSpPr>
            <p:cNvPr name="Freeform 16" id="16"/>
            <p:cNvSpPr/>
            <p:nvPr/>
          </p:nvSpPr>
          <p:spPr>
            <a:xfrm flipH="false" flipV="false" rot="0">
              <a:off x="0" y="0"/>
              <a:ext cx="1536022" cy="354025"/>
            </a:xfrm>
            <a:custGeom>
              <a:avLst/>
              <a:gdLst/>
              <a:ahLst/>
              <a:cxnLst/>
              <a:rect r="r" b="b" t="t" l="l"/>
              <a:pathLst>
                <a:path h="354025" w="1536022">
                  <a:moveTo>
                    <a:pt x="34514" y="0"/>
                  </a:moveTo>
                  <a:lnTo>
                    <a:pt x="1501508" y="0"/>
                  </a:lnTo>
                  <a:cubicBezTo>
                    <a:pt x="1510662" y="0"/>
                    <a:pt x="1519441" y="3636"/>
                    <a:pt x="1525913" y="10109"/>
                  </a:cubicBezTo>
                  <a:cubicBezTo>
                    <a:pt x="1532386" y="16582"/>
                    <a:pt x="1536022" y="25360"/>
                    <a:pt x="1536022" y="34514"/>
                  </a:cubicBezTo>
                  <a:lnTo>
                    <a:pt x="1536022" y="319511"/>
                  </a:lnTo>
                  <a:cubicBezTo>
                    <a:pt x="1536022" y="328665"/>
                    <a:pt x="1532386" y="337444"/>
                    <a:pt x="1525913" y="343916"/>
                  </a:cubicBezTo>
                  <a:cubicBezTo>
                    <a:pt x="1519441" y="350389"/>
                    <a:pt x="1510662" y="354025"/>
                    <a:pt x="1501508" y="354025"/>
                  </a:cubicBezTo>
                  <a:lnTo>
                    <a:pt x="34514" y="354025"/>
                  </a:lnTo>
                  <a:cubicBezTo>
                    <a:pt x="25360" y="354025"/>
                    <a:pt x="16582" y="350389"/>
                    <a:pt x="10109" y="343916"/>
                  </a:cubicBezTo>
                  <a:cubicBezTo>
                    <a:pt x="3636" y="337444"/>
                    <a:pt x="0" y="328665"/>
                    <a:pt x="0" y="319511"/>
                  </a:cubicBezTo>
                  <a:lnTo>
                    <a:pt x="0" y="34514"/>
                  </a:lnTo>
                  <a:cubicBezTo>
                    <a:pt x="0" y="25360"/>
                    <a:pt x="3636" y="16582"/>
                    <a:pt x="10109" y="10109"/>
                  </a:cubicBezTo>
                  <a:cubicBezTo>
                    <a:pt x="16582" y="3636"/>
                    <a:pt x="25360" y="0"/>
                    <a:pt x="34514" y="0"/>
                  </a:cubicBezTo>
                  <a:close/>
                </a:path>
              </a:pathLst>
            </a:custGeom>
            <a:solidFill>
              <a:srgbClr val="C6DDDF"/>
            </a:solidFill>
            <a:ln w="38100" cap="rnd">
              <a:solidFill>
                <a:srgbClr val="000000"/>
              </a:solidFill>
              <a:prstDash val="solid"/>
              <a:round/>
            </a:ln>
          </p:spPr>
        </p:sp>
        <p:sp>
          <p:nvSpPr>
            <p:cNvPr name="TextBox 17" id="17"/>
            <p:cNvSpPr txBox="true"/>
            <p:nvPr/>
          </p:nvSpPr>
          <p:spPr>
            <a:xfrm>
              <a:off x="0" y="19050"/>
              <a:ext cx="1536022" cy="334975"/>
            </a:xfrm>
            <a:prstGeom prst="rect">
              <a:avLst/>
            </a:prstGeom>
          </p:spPr>
          <p:txBody>
            <a:bodyPr anchor="ctr" rtlCol="false" tIns="50800" lIns="50800" bIns="50800" rIns="50800"/>
            <a:lstStyle/>
            <a:p>
              <a:pPr algn="ctr">
                <a:lnSpc>
                  <a:spcPts val="2099"/>
                </a:lnSpc>
              </a:pPr>
            </a:p>
          </p:txBody>
        </p:sp>
      </p:grpSp>
      <p:sp>
        <p:nvSpPr>
          <p:cNvPr name="TextBox 18" id="18"/>
          <p:cNvSpPr txBox="true"/>
          <p:nvPr/>
        </p:nvSpPr>
        <p:spPr>
          <a:xfrm rot="0">
            <a:off x="1556133" y="2212240"/>
            <a:ext cx="7831332" cy="5004764"/>
          </a:xfrm>
          <a:prstGeom prst="rect">
            <a:avLst/>
          </a:prstGeom>
        </p:spPr>
        <p:txBody>
          <a:bodyPr anchor="t" rtlCol="false" tIns="0" lIns="0" bIns="0" rIns="0">
            <a:spAutoFit/>
          </a:bodyPr>
          <a:lstStyle/>
          <a:p>
            <a:pPr algn="ctr">
              <a:lnSpc>
                <a:spcPts val="6480"/>
              </a:lnSpc>
            </a:pPr>
            <a:r>
              <a:rPr lang="en-US" sz="6416" b="true">
                <a:solidFill>
                  <a:srgbClr val="16456A"/>
                </a:solidFill>
                <a:latin typeface="Poppins Bold"/>
                <a:ea typeface="Poppins Bold"/>
                <a:cs typeface="Poppins Bold"/>
                <a:sym typeface="Poppins Bold"/>
              </a:rPr>
              <a:t>Analisis Pengaruh Curah Hujan dan Inflasi terhadap Harga Bahan Pokok di Pulau Jawa Tahun 2024</a:t>
            </a:r>
          </a:p>
        </p:txBody>
      </p:sp>
      <p:sp>
        <p:nvSpPr>
          <p:cNvPr name="TextBox 19" id="19"/>
          <p:cNvSpPr txBox="true"/>
          <p:nvPr/>
        </p:nvSpPr>
        <p:spPr>
          <a:xfrm rot="0">
            <a:off x="1800230" y="1031947"/>
            <a:ext cx="7263079" cy="677893"/>
          </a:xfrm>
          <a:prstGeom prst="rect">
            <a:avLst/>
          </a:prstGeom>
        </p:spPr>
        <p:txBody>
          <a:bodyPr anchor="t" rtlCol="false" tIns="0" lIns="0" bIns="0" rIns="0">
            <a:spAutoFit/>
          </a:bodyPr>
          <a:lstStyle/>
          <a:p>
            <a:pPr algn="ctr">
              <a:lnSpc>
                <a:spcPts val="4764"/>
              </a:lnSpc>
            </a:pPr>
            <a:r>
              <a:rPr lang="en-US" sz="4717" b="true">
                <a:solidFill>
                  <a:srgbClr val="F0F7FE"/>
                </a:solidFill>
                <a:latin typeface="Poppins Bold"/>
                <a:ea typeface="Poppins Bold"/>
                <a:cs typeface="Poppins Bold"/>
                <a:sym typeface="Poppins Bold"/>
              </a:rPr>
              <a:t>Kelompok 15</a:t>
            </a:r>
          </a:p>
        </p:txBody>
      </p:sp>
      <p:sp>
        <p:nvSpPr>
          <p:cNvPr name="TextBox 20" id="20"/>
          <p:cNvSpPr txBox="true"/>
          <p:nvPr/>
        </p:nvSpPr>
        <p:spPr>
          <a:xfrm rot="0">
            <a:off x="5717245" y="8191940"/>
            <a:ext cx="4946798" cy="355491"/>
          </a:xfrm>
          <a:prstGeom prst="rect">
            <a:avLst/>
          </a:prstGeom>
        </p:spPr>
        <p:txBody>
          <a:bodyPr anchor="t" rtlCol="false" tIns="0" lIns="0" bIns="0" rIns="0">
            <a:spAutoFit/>
          </a:bodyPr>
          <a:lstStyle/>
          <a:p>
            <a:pPr algn="l">
              <a:lnSpc>
                <a:spcPts val="2520"/>
              </a:lnSpc>
            </a:pPr>
            <a:r>
              <a:rPr lang="en-US" sz="2495" b="true">
                <a:solidFill>
                  <a:srgbClr val="16456A"/>
                </a:solidFill>
                <a:latin typeface="Poppins Bold"/>
                <a:ea typeface="Poppins Bold"/>
                <a:cs typeface="Poppins Bold"/>
                <a:sym typeface="Poppins Bold"/>
              </a:rPr>
              <a:t>Ulfa Siti Nuraini S.Stat., M.Stat.</a:t>
            </a:r>
          </a:p>
        </p:txBody>
      </p:sp>
      <p:sp>
        <p:nvSpPr>
          <p:cNvPr name="TextBox 21" id="21"/>
          <p:cNvSpPr txBox="true"/>
          <p:nvPr/>
        </p:nvSpPr>
        <p:spPr>
          <a:xfrm rot="0">
            <a:off x="5717245" y="7688624"/>
            <a:ext cx="4547935" cy="355600"/>
          </a:xfrm>
          <a:prstGeom prst="rect">
            <a:avLst/>
          </a:prstGeom>
        </p:spPr>
        <p:txBody>
          <a:bodyPr anchor="t" rtlCol="false" tIns="0" lIns="0" bIns="0" rIns="0">
            <a:spAutoFit/>
          </a:bodyPr>
          <a:lstStyle/>
          <a:p>
            <a:pPr algn="l">
              <a:lnSpc>
                <a:spcPts val="2524"/>
              </a:lnSpc>
            </a:pPr>
            <a:r>
              <a:rPr lang="en-US" sz="2499" b="true">
                <a:solidFill>
                  <a:srgbClr val="16456A"/>
                </a:solidFill>
                <a:latin typeface="Poppins Bold"/>
                <a:ea typeface="Poppins Bold"/>
                <a:cs typeface="Poppins Bold"/>
                <a:sym typeface="Poppins Bold"/>
              </a:rPr>
              <a:t>Dosen Pengampu:</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215364"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4410941" y="718936"/>
            <a:ext cx="1703777" cy="1713121"/>
          </a:xfrm>
          <a:custGeom>
            <a:avLst/>
            <a:gdLst/>
            <a:ahLst/>
            <a:cxnLst/>
            <a:rect r="r" b="b" t="t" l="l"/>
            <a:pathLst>
              <a:path h="1713121" w="1703777">
                <a:moveTo>
                  <a:pt x="0" y="0"/>
                </a:moveTo>
                <a:lnTo>
                  <a:pt x="1703777" y="0"/>
                </a:lnTo>
                <a:lnTo>
                  <a:pt x="1703777" y="1713121"/>
                </a:lnTo>
                <a:lnTo>
                  <a:pt x="0" y="17131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5539142" y="718936"/>
            <a:ext cx="1703777" cy="1713121"/>
          </a:xfrm>
          <a:custGeom>
            <a:avLst/>
            <a:gdLst/>
            <a:ahLst/>
            <a:cxnLst/>
            <a:rect r="r" b="b" t="t" l="l"/>
            <a:pathLst>
              <a:path h="1713121" w="1703777">
                <a:moveTo>
                  <a:pt x="0" y="0"/>
                </a:moveTo>
                <a:lnTo>
                  <a:pt x="1703777" y="0"/>
                </a:lnTo>
                <a:lnTo>
                  <a:pt x="1703777" y="1713121"/>
                </a:lnTo>
                <a:lnTo>
                  <a:pt x="0" y="17131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6667342" y="718936"/>
            <a:ext cx="1703777" cy="1713121"/>
          </a:xfrm>
          <a:custGeom>
            <a:avLst/>
            <a:gdLst/>
            <a:ahLst/>
            <a:cxnLst/>
            <a:rect r="r" b="b" t="t" l="l"/>
            <a:pathLst>
              <a:path h="1713121" w="1703777">
                <a:moveTo>
                  <a:pt x="0" y="0"/>
                </a:moveTo>
                <a:lnTo>
                  <a:pt x="1703777" y="0"/>
                </a:lnTo>
                <a:lnTo>
                  <a:pt x="1703777" y="1713121"/>
                </a:lnTo>
                <a:lnTo>
                  <a:pt x="0" y="17131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685521" y="4177452"/>
            <a:ext cx="4065089" cy="4152338"/>
            <a:chOff x="0" y="0"/>
            <a:chExt cx="5420119" cy="5536451"/>
          </a:xfrm>
        </p:grpSpPr>
        <p:sp>
          <p:nvSpPr>
            <p:cNvPr name="Freeform 11" id="11"/>
            <p:cNvSpPr/>
            <p:nvPr/>
          </p:nvSpPr>
          <p:spPr>
            <a:xfrm flipH="false" flipV="false" rot="0">
              <a:off x="257735" y="0"/>
              <a:ext cx="5162384" cy="5390394"/>
            </a:xfrm>
            <a:custGeom>
              <a:avLst/>
              <a:gdLst/>
              <a:ahLst/>
              <a:cxnLst/>
              <a:rect r="r" b="b" t="t" l="l"/>
              <a:pathLst>
                <a:path h="5390394" w="5162384">
                  <a:moveTo>
                    <a:pt x="0" y="0"/>
                  </a:moveTo>
                  <a:lnTo>
                    <a:pt x="5162384" y="0"/>
                  </a:lnTo>
                  <a:lnTo>
                    <a:pt x="5162384" y="5390394"/>
                  </a:lnTo>
                  <a:lnTo>
                    <a:pt x="0" y="53903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0" y="2114588"/>
              <a:ext cx="2762264" cy="3421863"/>
            </a:xfrm>
            <a:custGeom>
              <a:avLst/>
              <a:gdLst/>
              <a:ahLst/>
              <a:cxnLst/>
              <a:rect r="r" b="b" t="t" l="l"/>
              <a:pathLst>
                <a:path h="3421863" w="2762264">
                  <a:moveTo>
                    <a:pt x="0" y="0"/>
                  </a:moveTo>
                  <a:lnTo>
                    <a:pt x="2762264" y="0"/>
                  </a:lnTo>
                  <a:lnTo>
                    <a:pt x="2762264" y="3421863"/>
                  </a:lnTo>
                  <a:lnTo>
                    <a:pt x="0" y="342186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sp>
        <p:nvSpPr>
          <p:cNvPr name="Freeform 13" id="13"/>
          <p:cNvSpPr/>
          <p:nvPr/>
        </p:nvSpPr>
        <p:spPr>
          <a:xfrm flipH="false" flipV="false" rot="0">
            <a:off x="5521724" y="3536845"/>
            <a:ext cx="440470" cy="440470"/>
          </a:xfrm>
          <a:custGeom>
            <a:avLst/>
            <a:gdLst/>
            <a:ahLst/>
            <a:cxnLst/>
            <a:rect r="r" b="b" t="t" l="l"/>
            <a:pathLst>
              <a:path h="440470" w="440470">
                <a:moveTo>
                  <a:pt x="0" y="0"/>
                </a:moveTo>
                <a:lnTo>
                  <a:pt x="440470" y="0"/>
                </a:lnTo>
                <a:lnTo>
                  <a:pt x="440470" y="440470"/>
                </a:lnTo>
                <a:lnTo>
                  <a:pt x="0" y="44047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5521724" y="5226563"/>
            <a:ext cx="440470" cy="440470"/>
          </a:xfrm>
          <a:custGeom>
            <a:avLst/>
            <a:gdLst/>
            <a:ahLst/>
            <a:cxnLst/>
            <a:rect r="r" b="b" t="t" l="l"/>
            <a:pathLst>
              <a:path h="440470" w="440470">
                <a:moveTo>
                  <a:pt x="0" y="0"/>
                </a:moveTo>
                <a:lnTo>
                  <a:pt x="440470" y="0"/>
                </a:lnTo>
                <a:lnTo>
                  <a:pt x="440470" y="440470"/>
                </a:lnTo>
                <a:lnTo>
                  <a:pt x="0" y="44047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5514108" y="6911974"/>
            <a:ext cx="440470" cy="440470"/>
          </a:xfrm>
          <a:custGeom>
            <a:avLst/>
            <a:gdLst/>
            <a:ahLst/>
            <a:cxnLst/>
            <a:rect r="r" b="b" t="t" l="l"/>
            <a:pathLst>
              <a:path h="440470" w="440470">
                <a:moveTo>
                  <a:pt x="0" y="0"/>
                </a:moveTo>
                <a:lnTo>
                  <a:pt x="440470" y="0"/>
                </a:lnTo>
                <a:lnTo>
                  <a:pt x="440470" y="440470"/>
                </a:lnTo>
                <a:lnTo>
                  <a:pt x="0" y="44047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6" id="16"/>
          <p:cNvSpPr txBox="true"/>
          <p:nvPr/>
        </p:nvSpPr>
        <p:spPr>
          <a:xfrm rot="0">
            <a:off x="4750610" y="1642172"/>
            <a:ext cx="9250422"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Anggota Kelompok</a:t>
            </a:r>
          </a:p>
        </p:txBody>
      </p:sp>
      <p:sp>
        <p:nvSpPr>
          <p:cNvPr name="TextBox 17" id="17"/>
          <p:cNvSpPr txBox="true"/>
          <p:nvPr/>
        </p:nvSpPr>
        <p:spPr>
          <a:xfrm rot="0">
            <a:off x="6315201" y="3555895"/>
            <a:ext cx="5264443" cy="1075812"/>
          </a:xfrm>
          <a:prstGeom prst="rect">
            <a:avLst/>
          </a:prstGeom>
        </p:spPr>
        <p:txBody>
          <a:bodyPr anchor="t" rtlCol="false" tIns="0" lIns="0" bIns="0" rIns="0">
            <a:spAutoFit/>
          </a:bodyPr>
          <a:lstStyle/>
          <a:p>
            <a:pPr algn="l">
              <a:lnSpc>
                <a:spcPts val="2814"/>
              </a:lnSpc>
            </a:pPr>
            <a:r>
              <a:rPr lang="en-US" sz="2786" b="true">
                <a:solidFill>
                  <a:srgbClr val="368CD1"/>
                </a:solidFill>
                <a:latin typeface="Poppins Bold"/>
                <a:ea typeface="Poppins Bold"/>
                <a:cs typeface="Poppins Bold"/>
                <a:sym typeface="Poppins Bold"/>
              </a:rPr>
              <a:t>Shafa Fatimah Az Zahra </a:t>
            </a:r>
          </a:p>
          <a:p>
            <a:pPr algn="l">
              <a:lnSpc>
                <a:spcPts val="2814"/>
              </a:lnSpc>
            </a:pPr>
          </a:p>
          <a:p>
            <a:pPr algn="l">
              <a:lnSpc>
                <a:spcPts val="2814"/>
              </a:lnSpc>
            </a:pPr>
            <a:r>
              <a:rPr lang="en-US" sz="2786" b="true">
                <a:solidFill>
                  <a:srgbClr val="368CD1"/>
                </a:solidFill>
                <a:latin typeface="Poppins Bold"/>
                <a:ea typeface="Poppins Bold"/>
                <a:cs typeface="Poppins Bold"/>
                <a:sym typeface="Poppins Bold"/>
              </a:rPr>
              <a:t>(1314623062)</a:t>
            </a:r>
          </a:p>
        </p:txBody>
      </p:sp>
      <p:sp>
        <p:nvSpPr>
          <p:cNvPr name="TextBox 18" id="18"/>
          <p:cNvSpPr txBox="true"/>
          <p:nvPr/>
        </p:nvSpPr>
        <p:spPr>
          <a:xfrm rot="0">
            <a:off x="6315201" y="5245613"/>
            <a:ext cx="4945260" cy="1075812"/>
          </a:xfrm>
          <a:prstGeom prst="rect">
            <a:avLst/>
          </a:prstGeom>
        </p:spPr>
        <p:txBody>
          <a:bodyPr anchor="t" rtlCol="false" tIns="0" lIns="0" bIns="0" rIns="0">
            <a:spAutoFit/>
          </a:bodyPr>
          <a:lstStyle/>
          <a:p>
            <a:pPr algn="l">
              <a:lnSpc>
                <a:spcPts val="2814"/>
              </a:lnSpc>
            </a:pPr>
            <a:r>
              <a:rPr lang="en-US" sz="2786" b="true">
                <a:solidFill>
                  <a:srgbClr val="368CD1"/>
                </a:solidFill>
                <a:latin typeface="Poppins Bold"/>
                <a:ea typeface="Poppins Bold"/>
                <a:cs typeface="Poppins Bold"/>
                <a:sym typeface="Poppins Bold"/>
              </a:rPr>
              <a:t>Yanaka Sofia Pardede</a:t>
            </a:r>
          </a:p>
          <a:p>
            <a:pPr algn="l">
              <a:lnSpc>
                <a:spcPts val="2814"/>
              </a:lnSpc>
            </a:pPr>
          </a:p>
          <a:p>
            <a:pPr algn="l">
              <a:lnSpc>
                <a:spcPts val="2814"/>
              </a:lnSpc>
            </a:pPr>
            <a:r>
              <a:rPr lang="en-US" sz="2786" b="true">
                <a:solidFill>
                  <a:srgbClr val="368CD1"/>
                </a:solidFill>
                <a:latin typeface="Poppins Bold"/>
                <a:ea typeface="Poppins Bold"/>
                <a:cs typeface="Poppins Bold"/>
                <a:sym typeface="Poppins Bold"/>
              </a:rPr>
              <a:t>(24031554065)</a:t>
            </a:r>
          </a:p>
        </p:txBody>
      </p:sp>
      <p:sp>
        <p:nvSpPr>
          <p:cNvPr name="TextBox 19" id="19"/>
          <p:cNvSpPr txBox="true"/>
          <p:nvPr/>
        </p:nvSpPr>
        <p:spPr>
          <a:xfrm rot="0">
            <a:off x="6307585" y="6931024"/>
            <a:ext cx="4945260" cy="1075812"/>
          </a:xfrm>
          <a:prstGeom prst="rect">
            <a:avLst/>
          </a:prstGeom>
        </p:spPr>
        <p:txBody>
          <a:bodyPr anchor="t" rtlCol="false" tIns="0" lIns="0" bIns="0" rIns="0">
            <a:spAutoFit/>
          </a:bodyPr>
          <a:lstStyle/>
          <a:p>
            <a:pPr algn="l">
              <a:lnSpc>
                <a:spcPts val="2814"/>
              </a:lnSpc>
            </a:pPr>
            <a:r>
              <a:rPr lang="en-US" sz="2786" b="true">
                <a:solidFill>
                  <a:srgbClr val="368CD1"/>
                </a:solidFill>
                <a:latin typeface="Poppins Bold"/>
                <a:ea typeface="Poppins Bold"/>
                <a:cs typeface="Poppins Bold"/>
                <a:sym typeface="Poppins Bold"/>
              </a:rPr>
              <a:t>Putri Sofiyatus Salwa </a:t>
            </a:r>
          </a:p>
          <a:p>
            <a:pPr algn="l">
              <a:lnSpc>
                <a:spcPts val="2814"/>
              </a:lnSpc>
            </a:pPr>
          </a:p>
          <a:p>
            <a:pPr algn="l">
              <a:lnSpc>
                <a:spcPts val="2814"/>
              </a:lnSpc>
            </a:pPr>
            <a:r>
              <a:rPr lang="en-US" sz="2786" b="true">
                <a:solidFill>
                  <a:srgbClr val="368CD1"/>
                </a:solidFill>
                <a:latin typeface="Poppins Bold"/>
                <a:ea typeface="Poppins Bold"/>
                <a:cs typeface="Poppins Bold"/>
                <a:sym typeface="Poppins Bold"/>
              </a:rPr>
              <a:t>(24031554112)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2282778"/>
            <a:ext cx="11805579" cy="10066939"/>
          </a:xfrm>
          <a:custGeom>
            <a:avLst/>
            <a:gdLst/>
            <a:ahLst/>
            <a:cxnLst/>
            <a:rect r="r" b="b" t="t" l="l"/>
            <a:pathLst>
              <a:path h="10066939" w="11805579">
                <a:moveTo>
                  <a:pt x="0" y="0"/>
                </a:moveTo>
                <a:lnTo>
                  <a:pt x="11805579" y="0"/>
                </a:lnTo>
                <a:lnTo>
                  <a:pt x="11805579" y="10066940"/>
                </a:lnTo>
                <a:lnTo>
                  <a:pt x="0" y="10066940"/>
                </a:lnTo>
                <a:lnTo>
                  <a:pt x="0" y="0"/>
                </a:lnTo>
                <a:close/>
              </a:path>
            </a:pathLst>
          </a:custGeom>
          <a:blipFill>
            <a:blip r:embed="rId4">
              <a:alphaModFix amt="50000"/>
            </a:blip>
            <a:stretch>
              <a:fillRect l="0" t="0" r="0" b="0"/>
            </a:stretch>
          </a:blipFill>
        </p:spPr>
      </p:sp>
      <p:sp>
        <p:nvSpPr>
          <p:cNvPr name="Freeform 7" id="7"/>
          <p:cNvSpPr/>
          <p:nvPr/>
        </p:nvSpPr>
        <p:spPr>
          <a:xfrm flipH="true" flipV="false" rot="0">
            <a:off x="806872" y="2197141"/>
            <a:ext cx="5239121" cy="6685653"/>
          </a:xfrm>
          <a:custGeom>
            <a:avLst/>
            <a:gdLst/>
            <a:ahLst/>
            <a:cxnLst/>
            <a:rect r="r" b="b" t="t" l="l"/>
            <a:pathLst>
              <a:path h="6685653" w="5239121">
                <a:moveTo>
                  <a:pt x="5239121" y="0"/>
                </a:moveTo>
                <a:lnTo>
                  <a:pt x="0" y="0"/>
                </a:lnTo>
                <a:lnTo>
                  <a:pt x="0" y="6685653"/>
                </a:lnTo>
                <a:lnTo>
                  <a:pt x="5239121" y="6685653"/>
                </a:lnTo>
                <a:lnTo>
                  <a:pt x="523912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665385" y="2750692"/>
            <a:ext cx="2539793" cy="3695467"/>
          </a:xfrm>
          <a:custGeom>
            <a:avLst/>
            <a:gdLst/>
            <a:ahLst/>
            <a:cxnLst/>
            <a:rect r="r" b="b" t="t" l="l"/>
            <a:pathLst>
              <a:path h="3695467" w="2539793">
                <a:moveTo>
                  <a:pt x="2539794" y="0"/>
                </a:moveTo>
                <a:lnTo>
                  <a:pt x="0" y="0"/>
                </a:lnTo>
                <a:lnTo>
                  <a:pt x="0" y="3695467"/>
                </a:lnTo>
                <a:lnTo>
                  <a:pt x="2539794" y="3695467"/>
                </a:lnTo>
                <a:lnTo>
                  <a:pt x="2539794"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7462334" y="1095375"/>
            <a:ext cx="7697580"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Latar Belakang</a:t>
            </a:r>
          </a:p>
        </p:txBody>
      </p:sp>
      <p:sp>
        <p:nvSpPr>
          <p:cNvPr name="TextBox 10" id="10"/>
          <p:cNvSpPr txBox="true"/>
          <p:nvPr/>
        </p:nvSpPr>
        <p:spPr>
          <a:xfrm rot="0">
            <a:off x="7462334" y="2669768"/>
            <a:ext cx="9796966" cy="2870200"/>
          </a:xfrm>
          <a:prstGeom prst="rect">
            <a:avLst/>
          </a:prstGeom>
        </p:spPr>
        <p:txBody>
          <a:bodyPr anchor="t" rtlCol="false" tIns="0" lIns="0" bIns="0" rIns="0">
            <a:spAutoFit/>
          </a:bodyPr>
          <a:lstStyle/>
          <a:p>
            <a:pPr algn="just">
              <a:lnSpc>
                <a:spcPts val="2524"/>
              </a:lnSpc>
            </a:pPr>
            <a:r>
              <a:rPr lang="en-US" sz="2499">
                <a:solidFill>
                  <a:srgbClr val="368CD1"/>
                </a:solidFill>
                <a:latin typeface="Poppins"/>
                <a:ea typeface="Poppins"/>
                <a:cs typeface="Poppins"/>
                <a:sym typeface="Poppins"/>
              </a:rPr>
              <a:t>Harga bahan pokok memiliki peran penting dalam menjaga kestabilan ekonomi, karena fluktuasinya berdampak pada daya beli masyarakat. Pangan merupakan kebutuhan dasar sehingga perubahan harganya sangat mudah dirasakan, terutama di Pulau Jawa sebagai pusat kegiatan ekonomi. Curah hujan menjadi salah satu faktor yang dapat mempengaruhi produksi dan distribusi pangan, seperti melalui banjir atau kekeringan yang menghambat hasil panen.</a:t>
            </a:r>
          </a:p>
        </p:txBody>
      </p:sp>
      <p:sp>
        <p:nvSpPr>
          <p:cNvPr name="Freeform 11" id="11"/>
          <p:cNvSpPr/>
          <p:nvPr/>
        </p:nvSpPr>
        <p:spPr>
          <a:xfrm flipH="false" flipV="false" rot="0">
            <a:off x="3283996" y="1744513"/>
            <a:ext cx="1473254" cy="1481334"/>
          </a:xfrm>
          <a:custGeom>
            <a:avLst/>
            <a:gdLst/>
            <a:ahLst/>
            <a:cxnLst/>
            <a:rect r="r" b="b" t="t" l="l"/>
            <a:pathLst>
              <a:path h="1481334" w="1473254">
                <a:moveTo>
                  <a:pt x="0" y="0"/>
                </a:moveTo>
                <a:lnTo>
                  <a:pt x="1473254" y="0"/>
                </a:lnTo>
                <a:lnTo>
                  <a:pt x="1473254" y="1481333"/>
                </a:lnTo>
                <a:lnTo>
                  <a:pt x="0" y="148133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4259550" y="1744513"/>
            <a:ext cx="1473254" cy="1481334"/>
          </a:xfrm>
          <a:custGeom>
            <a:avLst/>
            <a:gdLst/>
            <a:ahLst/>
            <a:cxnLst/>
            <a:rect r="r" b="b" t="t" l="l"/>
            <a:pathLst>
              <a:path h="1481334" w="1473254">
                <a:moveTo>
                  <a:pt x="0" y="0"/>
                </a:moveTo>
                <a:lnTo>
                  <a:pt x="1473253" y="0"/>
                </a:lnTo>
                <a:lnTo>
                  <a:pt x="1473253" y="1481333"/>
                </a:lnTo>
                <a:lnTo>
                  <a:pt x="0" y="148133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5235103" y="1744513"/>
            <a:ext cx="1473254" cy="1481334"/>
          </a:xfrm>
          <a:custGeom>
            <a:avLst/>
            <a:gdLst/>
            <a:ahLst/>
            <a:cxnLst/>
            <a:rect r="r" b="b" t="t" l="l"/>
            <a:pathLst>
              <a:path h="1481334" w="1473254">
                <a:moveTo>
                  <a:pt x="0" y="0"/>
                </a:moveTo>
                <a:lnTo>
                  <a:pt x="1473253" y="0"/>
                </a:lnTo>
                <a:lnTo>
                  <a:pt x="1473253" y="1481333"/>
                </a:lnTo>
                <a:lnTo>
                  <a:pt x="0" y="148133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7462334" y="5856937"/>
            <a:ext cx="9796966" cy="1927225"/>
          </a:xfrm>
          <a:prstGeom prst="rect">
            <a:avLst/>
          </a:prstGeom>
        </p:spPr>
        <p:txBody>
          <a:bodyPr anchor="t" rtlCol="false" tIns="0" lIns="0" bIns="0" rIns="0">
            <a:spAutoFit/>
          </a:bodyPr>
          <a:lstStyle/>
          <a:p>
            <a:pPr algn="just">
              <a:lnSpc>
                <a:spcPts val="2524"/>
              </a:lnSpc>
            </a:pPr>
            <a:r>
              <a:rPr lang="en-US" sz="2499">
                <a:solidFill>
                  <a:srgbClr val="368CD1"/>
                </a:solidFill>
                <a:latin typeface="Poppins"/>
                <a:ea typeface="Poppins"/>
                <a:cs typeface="Poppins"/>
                <a:sym typeface="Poppins"/>
              </a:rPr>
              <a:t>Selain itu, inflasi turut memengaruhi harga bahan pokok melalui peningkatan biaya produksi, distribusi, maupun permintaan musiman. Dengan kondisi tersebut, penting untuk menganalisis bagaimana curah hujan dan inflasi berpengaruh terhadap harga bahan pokok di Pulau Jawa selama tahun 2024.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89098" y="-2770306"/>
            <a:ext cx="7011323" cy="5978746"/>
          </a:xfrm>
          <a:custGeom>
            <a:avLst/>
            <a:gdLst/>
            <a:ahLst/>
            <a:cxnLst/>
            <a:rect r="r" b="b" t="t" l="l"/>
            <a:pathLst>
              <a:path h="5978746" w="7011323">
                <a:moveTo>
                  <a:pt x="0" y="0"/>
                </a:moveTo>
                <a:lnTo>
                  <a:pt x="7011323" y="0"/>
                </a:lnTo>
                <a:lnTo>
                  <a:pt x="7011323" y="5978746"/>
                </a:lnTo>
                <a:lnTo>
                  <a:pt x="0" y="5978746"/>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6926180" y="2234962"/>
            <a:ext cx="487499" cy="450271"/>
          </a:xfrm>
          <a:custGeom>
            <a:avLst/>
            <a:gdLst/>
            <a:ahLst/>
            <a:cxnLst/>
            <a:rect r="r" b="b" t="t" l="l"/>
            <a:pathLst>
              <a:path h="450271" w="487499">
                <a:moveTo>
                  <a:pt x="0" y="0"/>
                </a:moveTo>
                <a:lnTo>
                  <a:pt x="487499" y="0"/>
                </a:lnTo>
                <a:lnTo>
                  <a:pt x="487499" y="450272"/>
                </a:lnTo>
                <a:lnTo>
                  <a:pt x="0" y="4502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247661" y="750890"/>
            <a:ext cx="4209995" cy="2663779"/>
          </a:xfrm>
          <a:custGeom>
            <a:avLst/>
            <a:gdLst/>
            <a:ahLst/>
            <a:cxnLst/>
            <a:rect r="r" b="b" t="t" l="l"/>
            <a:pathLst>
              <a:path h="2663779" w="4209995">
                <a:moveTo>
                  <a:pt x="0" y="0"/>
                </a:moveTo>
                <a:lnTo>
                  <a:pt x="4209996" y="0"/>
                </a:lnTo>
                <a:lnTo>
                  <a:pt x="4209996" y="2663779"/>
                </a:lnTo>
                <a:lnTo>
                  <a:pt x="0" y="26637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4352659" y="395566"/>
            <a:ext cx="1672569" cy="839326"/>
          </a:xfrm>
          <a:custGeom>
            <a:avLst/>
            <a:gdLst/>
            <a:ahLst/>
            <a:cxnLst/>
            <a:rect r="r" b="b" t="t" l="l"/>
            <a:pathLst>
              <a:path h="839326" w="1672569">
                <a:moveTo>
                  <a:pt x="0" y="0"/>
                </a:moveTo>
                <a:lnTo>
                  <a:pt x="1672569" y="0"/>
                </a:lnTo>
                <a:lnTo>
                  <a:pt x="1672569" y="839325"/>
                </a:lnTo>
                <a:lnTo>
                  <a:pt x="0" y="8393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7880404" y="1428640"/>
            <a:ext cx="7253172" cy="1779800"/>
          </a:xfrm>
          <a:prstGeom prst="rect">
            <a:avLst/>
          </a:prstGeom>
        </p:spPr>
        <p:txBody>
          <a:bodyPr anchor="t" rtlCol="false" tIns="0" lIns="0" bIns="0" rIns="0">
            <a:spAutoFit/>
          </a:bodyPr>
          <a:lstStyle/>
          <a:p>
            <a:pPr algn="l">
              <a:lnSpc>
                <a:spcPts val="6661"/>
              </a:lnSpc>
            </a:pPr>
            <a:r>
              <a:rPr lang="en-US" sz="6595" b="true">
                <a:solidFill>
                  <a:srgbClr val="16456A"/>
                </a:solidFill>
                <a:latin typeface="Poppins Bold"/>
                <a:ea typeface="Poppins Bold"/>
                <a:cs typeface="Poppins Bold"/>
                <a:sym typeface="Poppins Bold"/>
              </a:rPr>
              <a:t>Rumusan Masalah</a:t>
            </a:r>
          </a:p>
        </p:txBody>
      </p:sp>
      <p:sp>
        <p:nvSpPr>
          <p:cNvPr name="TextBox 11" id="11"/>
          <p:cNvSpPr txBox="true"/>
          <p:nvPr/>
        </p:nvSpPr>
        <p:spPr>
          <a:xfrm rot="0">
            <a:off x="1613758" y="3758161"/>
            <a:ext cx="15060484" cy="5500139"/>
          </a:xfrm>
          <a:prstGeom prst="rect">
            <a:avLst/>
          </a:prstGeom>
        </p:spPr>
        <p:txBody>
          <a:bodyPr anchor="t" rtlCol="false" tIns="0" lIns="0" bIns="0" rIns="0">
            <a:spAutoFit/>
          </a:bodyPr>
          <a:lstStyle/>
          <a:p>
            <a:pPr algn="just">
              <a:lnSpc>
                <a:spcPts val="2908"/>
              </a:lnSpc>
            </a:pPr>
            <a:r>
              <a:rPr lang="en-US" sz="2880">
                <a:solidFill>
                  <a:srgbClr val="368CD1"/>
                </a:solidFill>
                <a:latin typeface="Poppins"/>
                <a:ea typeface="Poppins"/>
                <a:cs typeface="Poppins"/>
                <a:sym typeface="Poppins"/>
              </a:rPr>
              <a:t>Rumusan masalah dalam proyek ini adalah sebagai berikut:</a:t>
            </a:r>
          </a:p>
          <a:p>
            <a:pPr algn="just">
              <a:lnSpc>
                <a:spcPts val="2908"/>
              </a:lnSpc>
            </a:pPr>
          </a:p>
          <a:p>
            <a:pPr algn="just" marL="621823" indent="-310912" lvl="1">
              <a:lnSpc>
                <a:spcPts val="3859"/>
              </a:lnSpc>
              <a:buAutoNum type="arabicPeriod" startAt="1"/>
            </a:pPr>
            <a:r>
              <a:rPr lang="en-US" sz="2880">
                <a:solidFill>
                  <a:srgbClr val="368CD1"/>
                </a:solidFill>
                <a:latin typeface="Poppins"/>
                <a:ea typeface="Poppins"/>
                <a:cs typeface="Poppins"/>
                <a:sym typeface="Poppins"/>
              </a:rPr>
              <a:t>Bagaimana proses integrasi data curah hujan, inflasi, dan harga bahan pokok komoditas di provinsi-provinsi Pulau Jawa?</a:t>
            </a:r>
          </a:p>
          <a:p>
            <a:pPr algn="just" marL="621823" indent="-310912" lvl="1">
              <a:lnSpc>
                <a:spcPts val="3859"/>
              </a:lnSpc>
              <a:buAutoNum type="arabicPeriod" startAt="1"/>
            </a:pPr>
            <a:r>
              <a:rPr lang="en-US" sz="2880">
                <a:solidFill>
                  <a:srgbClr val="368CD1"/>
                </a:solidFill>
                <a:latin typeface="Poppins"/>
                <a:ea typeface="Poppins"/>
                <a:cs typeface="Poppins"/>
                <a:sym typeface="Poppins"/>
              </a:rPr>
              <a:t>Bagaimana kondisi kualitas data (missing value, outlier, inkonsistensi tipe data) yang ditemukan dalam dataset tersebut?</a:t>
            </a:r>
          </a:p>
          <a:p>
            <a:pPr algn="just" marL="621823" indent="-310912" lvl="1">
              <a:lnSpc>
                <a:spcPts val="3859"/>
              </a:lnSpc>
              <a:buAutoNum type="arabicPeriod" startAt="1"/>
            </a:pPr>
            <a:r>
              <a:rPr lang="en-US" sz="2880">
                <a:solidFill>
                  <a:srgbClr val="368CD1"/>
                </a:solidFill>
                <a:latin typeface="Poppins"/>
                <a:ea typeface="Poppins"/>
                <a:cs typeface="Poppins"/>
                <a:sym typeface="Poppins"/>
              </a:rPr>
              <a:t>Bagaimana hasil eksplorasi data (EDA) untuk mengidentifikasi pola, tren, dan hubungan awal antara curah hujan, inflasi, dan harga komoditas di Pulau Jawa?</a:t>
            </a:r>
          </a:p>
          <a:p>
            <a:pPr algn="just" marL="621823" indent="-310912" lvl="1">
              <a:lnSpc>
                <a:spcPts val="3859"/>
              </a:lnSpc>
              <a:buAutoNum type="arabicPeriod" startAt="1"/>
            </a:pPr>
            <a:r>
              <a:rPr lang="en-US" sz="2880">
                <a:solidFill>
                  <a:srgbClr val="368CD1"/>
                </a:solidFill>
                <a:latin typeface="Poppins"/>
                <a:ea typeface="Poppins"/>
                <a:cs typeface="Poppins"/>
                <a:sym typeface="Poppins"/>
              </a:rPr>
              <a:t>Apakah terdapat indikasi pengaruh curah hujan dan inflasi terhadap harga bahan pokok berdasarkan hasil eksplorasi?</a:t>
            </a:r>
          </a:p>
          <a:p>
            <a:pPr algn="just">
              <a:lnSpc>
                <a:spcPts val="2908"/>
              </a:lnSpc>
            </a:pPr>
          </a:p>
        </p:txBody>
      </p:sp>
      <p:sp>
        <p:nvSpPr>
          <p:cNvPr name="Freeform 12" id="12"/>
          <p:cNvSpPr/>
          <p:nvPr/>
        </p:nvSpPr>
        <p:spPr>
          <a:xfrm flipH="false" flipV="false" rot="0">
            <a:off x="4246219" y="2277313"/>
            <a:ext cx="1576006" cy="790868"/>
          </a:xfrm>
          <a:custGeom>
            <a:avLst/>
            <a:gdLst/>
            <a:ahLst/>
            <a:cxnLst/>
            <a:rect r="r" b="b" t="t" l="l"/>
            <a:pathLst>
              <a:path h="790868" w="1576006">
                <a:moveTo>
                  <a:pt x="0" y="0"/>
                </a:moveTo>
                <a:lnTo>
                  <a:pt x="1576006" y="0"/>
                </a:lnTo>
                <a:lnTo>
                  <a:pt x="1576006" y="790868"/>
                </a:lnTo>
                <a:lnTo>
                  <a:pt x="0" y="79086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5361357" y="-2636748"/>
            <a:ext cx="10500274" cy="8953870"/>
          </a:xfrm>
          <a:custGeom>
            <a:avLst/>
            <a:gdLst/>
            <a:ahLst/>
            <a:cxnLst/>
            <a:rect r="r" b="b" t="t" l="l"/>
            <a:pathLst>
              <a:path h="8953870" w="10500274">
                <a:moveTo>
                  <a:pt x="0" y="0"/>
                </a:moveTo>
                <a:lnTo>
                  <a:pt x="10500274" y="0"/>
                </a:lnTo>
                <a:lnTo>
                  <a:pt x="10500274" y="8953870"/>
                </a:lnTo>
                <a:lnTo>
                  <a:pt x="0" y="8953870"/>
                </a:lnTo>
                <a:lnTo>
                  <a:pt x="0" y="0"/>
                </a:lnTo>
                <a:close/>
              </a:path>
            </a:pathLst>
          </a:custGeom>
          <a:blipFill>
            <a:blip r:embed="rId4">
              <a:alphaModFix amt="50000"/>
            </a:blip>
            <a:stretch>
              <a:fillRect l="0" t="0" r="0" b="0"/>
            </a:stretch>
          </a:blipFill>
        </p:spPr>
      </p:sp>
      <p:sp>
        <p:nvSpPr>
          <p:cNvPr name="Freeform 7" id="7"/>
          <p:cNvSpPr/>
          <p:nvPr/>
        </p:nvSpPr>
        <p:spPr>
          <a:xfrm flipH="false" flipV="false" rot="-2700000">
            <a:off x="5987528" y="1261567"/>
            <a:ext cx="6827689" cy="6827689"/>
          </a:xfrm>
          <a:custGeom>
            <a:avLst/>
            <a:gdLst/>
            <a:ahLst/>
            <a:cxnLst/>
            <a:rect r="r" b="b" t="t" l="l"/>
            <a:pathLst>
              <a:path h="6827689" w="6827689">
                <a:moveTo>
                  <a:pt x="0" y="0"/>
                </a:moveTo>
                <a:lnTo>
                  <a:pt x="6827689" y="0"/>
                </a:lnTo>
                <a:lnTo>
                  <a:pt x="6827689" y="6827689"/>
                </a:lnTo>
                <a:lnTo>
                  <a:pt x="0" y="68276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572527" y="1095375"/>
            <a:ext cx="4611378"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Tujuan</a:t>
            </a:r>
          </a:p>
        </p:txBody>
      </p:sp>
      <p:sp>
        <p:nvSpPr>
          <p:cNvPr name="TextBox 9" id="9"/>
          <p:cNvSpPr txBox="true"/>
          <p:nvPr/>
        </p:nvSpPr>
        <p:spPr>
          <a:xfrm rot="0">
            <a:off x="572527" y="2603881"/>
            <a:ext cx="7827392" cy="5864225"/>
          </a:xfrm>
          <a:prstGeom prst="rect">
            <a:avLst/>
          </a:prstGeom>
        </p:spPr>
        <p:txBody>
          <a:bodyPr anchor="t" rtlCol="false" tIns="0" lIns="0" bIns="0" rIns="0">
            <a:spAutoFit/>
          </a:bodyPr>
          <a:lstStyle/>
          <a:p>
            <a:pPr algn="just" marL="502962" indent="-251481" lvl="1">
              <a:lnSpc>
                <a:spcPts val="3121"/>
              </a:lnSpc>
              <a:buAutoNum type="arabicPeriod" startAt="1"/>
            </a:pPr>
            <a:r>
              <a:rPr lang="en-US" sz="2329">
                <a:solidFill>
                  <a:srgbClr val="368CD1"/>
                </a:solidFill>
                <a:latin typeface="Poppins"/>
                <a:ea typeface="Poppins"/>
                <a:cs typeface="Poppins"/>
                <a:sym typeface="Poppins"/>
              </a:rPr>
              <a:t>Melakukan integrasi data curah hujan, inflasi, dan harga bahan pokok dari berbagai sumber menjadi satu dataset yang siap dianalisis.</a:t>
            </a:r>
          </a:p>
          <a:p>
            <a:pPr algn="just" marL="502962" indent="-251481" lvl="1">
              <a:lnSpc>
                <a:spcPts val="3121"/>
              </a:lnSpc>
              <a:buAutoNum type="arabicPeriod" startAt="1"/>
            </a:pPr>
            <a:r>
              <a:rPr lang="en-US" sz="2329">
                <a:solidFill>
                  <a:srgbClr val="368CD1"/>
                </a:solidFill>
                <a:latin typeface="Poppins"/>
                <a:ea typeface="Poppins"/>
                <a:cs typeface="Poppins"/>
                <a:sym typeface="Poppins"/>
              </a:rPr>
              <a:t>Melakukan proses data cleaning untuk mengatasi missing values, konversi tipe data, penanganan outlier, dan inkonsistensi data lainnya.</a:t>
            </a:r>
          </a:p>
          <a:p>
            <a:pPr algn="just" marL="502962" indent="-251481" lvl="1">
              <a:lnSpc>
                <a:spcPts val="3121"/>
              </a:lnSpc>
              <a:buAutoNum type="arabicPeriod" startAt="1"/>
            </a:pPr>
            <a:r>
              <a:rPr lang="en-US" sz="2329">
                <a:solidFill>
                  <a:srgbClr val="368CD1"/>
                </a:solidFill>
                <a:latin typeface="Poppins"/>
                <a:ea typeface="Poppins"/>
                <a:cs typeface="Poppins"/>
                <a:sym typeface="Poppins"/>
              </a:rPr>
              <a:t>Melakukan eksplorasi data untuk memahami pola dan distribusi data yang ada.</a:t>
            </a:r>
          </a:p>
          <a:p>
            <a:pPr algn="just" marL="502962" indent="-251481" lvl="1">
              <a:lnSpc>
                <a:spcPts val="3121"/>
              </a:lnSpc>
              <a:buAutoNum type="arabicPeriod" startAt="1"/>
            </a:pPr>
            <a:r>
              <a:rPr lang="en-US" sz="2329">
                <a:solidFill>
                  <a:srgbClr val="368CD1"/>
                </a:solidFill>
                <a:latin typeface="Poppins"/>
                <a:ea typeface="Poppins"/>
                <a:cs typeface="Poppins"/>
                <a:sym typeface="Poppins"/>
              </a:rPr>
              <a:t>Menggambarkan hubungan awal antara curah hujan, inflasi, dan harga bahan pokok di Pulau Jawa tahun 2024.</a:t>
            </a:r>
          </a:p>
          <a:p>
            <a:pPr algn="just" marL="502962" indent="-251481" lvl="1">
              <a:lnSpc>
                <a:spcPts val="3121"/>
              </a:lnSpc>
              <a:buAutoNum type="arabicPeriod" startAt="1"/>
            </a:pPr>
            <a:r>
              <a:rPr lang="en-US" sz="2329">
                <a:solidFill>
                  <a:srgbClr val="368CD1"/>
                </a:solidFill>
                <a:latin typeface="Poppins"/>
                <a:ea typeface="Poppins"/>
                <a:cs typeface="Poppins"/>
                <a:sym typeface="Poppins"/>
              </a:rPr>
              <a:t>M</a:t>
            </a:r>
            <a:r>
              <a:rPr lang="en-US" sz="2329">
                <a:solidFill>
                  <a:srgbClr val="368CD1"/>
                </a:solidFill>
                <a:latin typeface="Poppins"/>
                <a:ea typeface="Poppins"/>
                <a:cs typeface="Poppins"/>
                <a:sym typeface="Poppins"/>
              </a:rPr>
              <a:t>enyediakan data bersih dan siap dianalisis untuk tahap selanjutnya dalam pemodelan.</a:t>
            </a:r>
          </a:p>
          <a:p>
            <a:pPr algn="just">
              <a:lnSpc>
                <a:spcPts val="3121"/>
              </a:lnSpc>
            </a:pPr>
          </a:p>
        </p:txBody>
      </p:sp>
      <p:sp>
        <p:nvSpPr>
          <p:cNvPr name="TextBox 10" id="10"/>
          <p:cNvSpPr txBox="true"/>
          <p:nvPr/>
        </p:nvSpPr>
        <p:spPr>
          <a:xfrm rot="0">
            <a:off x="9728988" y="2613406"/>
            <a:ext cx="7530312" cy="4676332"/>
          </a:xfrm>
          <a:prstGeom prst="rect">
            <a:avLst/>
          </a:prstGeom>
        </p:spPr>
        <p:txBody>
          <a:bodyPr anchor="t" rtlCol="false" tIns="0" lIns="0" bIns="0" rIns="0">
            <a:spAutoFit/>
          </a:bodyPr>
          <a:lstStyle/>
          <a:p>
            <a:pPr algn="just" marL="501591" indent="-250796" lvl="1">
              <a:lnSpc>
                <a:spcPts val="3066"/>
              </a:lnSpc>
              <a:buAutoNum type="arabicPeriod" startAt="1"/>
            </a:pPr>
            <a:r>
              <a:rPr lang="en-US" sz="2323">
                <a:solidFill>
                  <a:srgbClr val="368CD1"/>
                </a:solidFill>
                <a:latin typeface="Poppins"/>
                <a:ea typeface="Poppins"/>
                <a:cs typeface="Poppins"/>
                <a:sym typeface="Poppins"/>
              </a:rPr>
              <a:t>Menghasilkan satu dataset yang rapi dan mudah digunakan untuk analisis.</a:t>
            </a:r>
          </a:p>
          <a:p>
            <a:pPr algn="just" marL="501591" indent="-250796" lvl="1">
              <a:lnSpc>
                <a:spcPts val="3066"/>
              </a:lnSpc>
              <a:buAutoNum type="arabicPeriod" startAt="1"/>
            </a:pPr>
            <a:r>
              <a:rPr lang="en-US" sz="2323">
                <a:solidFill>
                  <a:srgbClr val="368CD1"/>
                </a:solidFill>
                <a:latin typeface="Poppins"/>
                <a:ea typeface="Poppins"/>
                <a:cs typeface="Poppins"/>
                <a:sym typeface="Poppins"/>
              </a:rPr>
              <a:t>Membantu melihat pola perubahan harga bahan pokok terkait curah hujan dan inflasi.</a:t>
            </a:r>
          </a:p>
          <a:p>
            <a:pPr algn="just" marL="501591" indent="-250796" lvl="1">
              <a:lnSpc>
                <a:spcPts val="3066"/>
              </a:lnSpc>
              <a:buAutoNum type="arabicPeriod" startAt="1"/>
            </a:pPr>
            <a:r>
              <a:rPr lang="en-US" sz="2323">
                <a:solidFill>
                  <a:srgbClr val="368CD1"/>
                </a:solidFill>
                <a:latin typeface="Poppins"/>
                <a:ea typeface="Poppins"/>
                <a:cs typeface="Poppins"/>
                <a:sym typeface="Poppins"/>
              </a:rPr>
              <a:t>Memberikan informasi awal yang berguna bagi peneliti atau pihak terkait dalam memahami dinamika harga pangan.</a:t>
            </a:r>
          </a:p>
          <a:p>
            <a:pPr algn="just" marL="501591" indent="-250796" lvl="1">
              <a:lnSpc>
                <a:spcPts val="3066"/>
              </a:lnSpc>
              <a:buAutoNum type="arabicPeriod" startAt="1"/>
            </a:pPr>
            <a:r>
              <a:rPr lang="en-US" sz="2323">
                <a:solidFill>
                  <a:srgbClr val="368CD1"/>
                </a:solidFill>
                <a:latin typeface="Poppins"/>
                <a:ea typeface="Poppins"/>
                <a:cs typeface="Poppins"/>
                <a:sym typeface="Poppins"/>
              </a:rPr>
              <a:t>Menyediakan data yang siap dipakai untuk analisis lanjutan seperti prediksi atau regresi.</a:t>
            </a:r>
          </a:p>
          <a:p>
            <a:pPr algn="just" marL="501591" indent="-250796" lvl="1">
              <a:lnSpc>
                <a:spcPts val="3066"/>
              </a:lnSpc>
              <a:buAutoNum type="arabicPeriod" startAt="1"/>
            </a:pPr>
            <a:r>
              <a:rPr lang="en-US" sz="2323">
                <a:solidFill>
                  <a:srgbClr val="368CD1"/>
                </a:solidFill>
                <a:latin typeface="Poppins"/>
                <a:ea typeface="Poppins"/>
                <a:cs typeface="Poppins"/>
                <a:sym typeface="Poppins"/>
              </a:rPr>
              <a:t>M</a:t>
            </a:r>
            <a:r>
              <a:rPr lang="en-US" sz="2323">
                <a:solidFill>
                  <a:srgbClr val="368CD1"/>
                </a:solidFill>
                <a:latin typeface="Poppins"/>
                <a:ea typeface="Poppins"/>
                <a:cs typeface="Poppins"/>
                <a:sym typeface="Poppins"/>
              </a:rPr>
              <a:t>emperbaiki kualitas data sehingga hasil analisis lebih tepat dan dapat dipercaya.</a:t>
            </a:r>
          </a:p>
          <a:p>
            <a:pPr algn="just">
              <a:lnSpc>
                <a:spcPts val="3066"/>
              </a:lnSpc>
            </a:pPr>
          </a:p>
        </p:txBody>
      </p:sp>
      <p:sp>
        <p:nvSpPr>
          <p:cNvPr name="TextBox 11" id="11"/>
          <p:cNvSpPr txBox="true"/>
          <p:nvPr/>
        </p:nvSpPr>
        <p:spPr>
          <a:xfrm rot="0">
            <a:off x="11034116" y="1095375"/>
            <a:ext cx="6390324" cy="997585"/>
          </a:xfrm>
          <a:prstGeom prst="rect">
            <a:avLst/>
          </a:prstGeom>
        </p:spPr>
        <p:txBody>
          <a:bodyPr anchor="t" rtlCol="false" tIns="0" lIns="0" bIns="0" rIns="0">
            <a:spAutoFit/>
          </a:bodyPr>
          <a:lstStyle/>
          <a:p>
            <a:pPr algn="r">
              <a:lnSpc>
                <a:spcPts val="7069"/>
              </a:lnSpc>
            </a:pPr>
            <a:r>
              <a:rPr lang="en-US" sz="6999" b="true">
                <a:solidFill>
                  <a:srgbClr val="16456A"/>
                </a:solidFill>
                <a:latin typeface="Poppins Bold"/>
                <a:ea typeface="Poppins Bold"/>
                <a:cs typeface="Poppins Bold"/>
                <a:sym typeface="Poppins Bold"/>
              </a:rPr>
              <a:t>Manfaat</a:t>
            </a:r>
          </a:p>
        </p:txBody>
      </p:sp>
      <p:sp>
        <p:nvSpPr>
          <p:cNvPr name="Freeform 12" id="12"/>
          <p:cNvSpPr/>
          <p:nvPr/>
        </p:nvSpPr>
        <p:spPr>
          <a:xfrm flipH="false" flipV="false" rot="0">
            <a:off x="8569164" y="0"/>
            <a:ext cx="1664417" cy="2421771"/>
          </a:xfrm>
          <a:custGeom>
            <a:avLst/>
            <a:gdLst/>
            <a:ahLst/>
            <a:cxnLst/>
            <a:rect r="r" b="b" t="t" l="l"/>
            <a:pathLst>
              <a:path h="2421771" w="1664417">
                <a:moveTo>
                  <a:pt x="0" y="0"/>
                </a:moveTo>
                <a:lnTo>
                  <a:pt x="1664417" y="0"/>
                </a:lnTo>
                <a:lnTo>
                  <a:pt x="1664417" y="2421771"/>
                </a:lnTo>
                <a:lnTo>
                  <a:pt x="0" y="24217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572593" y="-5604629"/>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3954249" y="-4887663"/>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5">
              <a:alphaModFix amt="48000"/>
            </a:blip>
            <a:stretch>
              <a:fillRect l="0" t="-969" r="0" b="-969"/>
            </a:stretch>
          </a:blipFill>
        </p:spPr>
      </p:sp>
      <p:sp>
        <p:nvSpPr>
          <p:cNvPr name="TextBox 8" id="8"/>
          <p:cNvSpPr txBox="true"/>
          <p:nvPr/>
        </p:nvSpPr>
        <p:spPr>
          <a:xfrm rot="0">
            <a:off x="1028700" y="1077429"/>
            <a:ext cx="7764902"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Data Integration</a:t>
            </a:r>
          </a:p>
        </p:txBody>
      </p:sp>
      <p:sp>
        <p:nvSpPr>
          <p:cNvPr name="TextBox 9" id="9"/>
          <p:cNvSpPr txBox="true"/>
          <p:nvPr/>
        </p:nvSpPr>
        <p:spPr>
          <a:xfrm rot="0">
            <a:off x="1653794" y="3302963"/>
            <a:ext cx="7132561" cy="1741424"/>
          </a:xfrm>
          <a:prstGeom prst="rect">
            <a:avLst/>
          </a:prstGeom>
        </p:spPr>
        <p:txBody>
          <a:bodyPr anchor="t" rtlCol="false" tIns="0" lIns="0" bIns="0" rIns="0">
            <a:spAutoFit/>
          </a:bodyPr>
          <a:lstStyle/>
          <a:p>
            <a:pPr algn="just" marL="496571" indent="-248285" lvl="1">
              <a:lnSpc>
                <a:spcPts val="2323"/>
              </a:lnSpc>
              <a:buFont typeface="Arial"/>
              <a:buChar char="•"/>
            </a:pPr>
            <a:r>
              <a:rPr lang="en-US" sz="2300">
                <a:solidFill>
                  <a:srgbClr val="368CD1"/>
                </a:solidFill>
                <a:latin typeface="Poppins"/>
                <a:ea typeface="Poppins"/>
                <a:cs typeface="Poppins"/>
                <a:sym typeface="Poppins"/>
              </a:rPr>
              <a:t>Mengunduh 72 file (setiap bulan di 6 provinsi Pulau Jawa)</a:t>
            </a:r>
          </a:p>
          <a:p>
            <a:pPr algn="just" marL="496571" indent="-248285" lvl="1">
              <a:lnSpc>
                <a:spcPts val="2323"/>
              </a:lnSpc>
              <a:buFont typeface="Arial"/>
              <a:buChar char="•"/>
            </a:pPr>
            <a:r>
              <a:rPr lang="en-US" sz="2300">
                <a:solidFill>
                  <a:srgbClr val="368CD1"/>
                </a:solidFill>
                <a:latin typeface="Poppins"/>
                <a:ea typeface="Poppins"/>
                <a:cs typeface="Poppins"/>
                <a:sym typeface="Poppins"/>
              </a:rPr>
              <a:t>File digabung tiap provinsi lalu dilakukan agregasi rata-rata bulanan. Setelah itu dilakukan integrasi seluruh provinsi menjadi 1 dataset</a:t>
            </a:r>
          </a:p>
        </p:txBody>
      </p:sp>
      <p:sp>
        <p:nvSpPr>
          <p:cNvPr name="TextBox 10" id="10"/>
          <p:cNvSpPr txBox="true"/>
          <p:nvPr/>
        </p:nvSpPr>
        <p:spPr>
          <a:xfrm rot="0">
            <a:off x="1653794" y="2751537"/>
            <a:ext cx="6596846" cy="424815"/>
          </a:xfrm>
          <a:prstGeom prst="rect">
            <a:avLst/>
          </a:prstGeom>
        </p:spPr>
        <p:txBody>
          <a:bodyPr anchor="t" rtlCol="false" tIns="0" lIns="0" bIns="0" rIns="0">
            <a:spAutoFit/>
          </a:bodyPr>
          <a:lstStyle/>
          <a:p>
            <a:pPr algn="l">
              <a:lnSpc>
                <a:spcPts val="3030"/>
              </a:lnSpc>
            </a:pPr>
            <a:r>
              <a:rPr lang="en-US" sz="3000" b="true">
                <a:solidFill>
                  <a:srgbClr val="368CD1"/>
                </a:solidFill>
                <a:latin typeface="Poppins Bold"/>
                <a:ea typeface="Poppins Bold"/>
                <a:cs typeface="Poppins Bold"/>
                <a:sym typeface="Poppins Bold"/>
              </a:rPr>
              <a:t>Data Curah Hujan (BMKG)</a:t>
            </a:r>
          </a:p>
        </p:txBody>
      </p:sp>
      <p:sp>
        <p:nvSpPr>
          <p:cNvPr name="Freeform 11" id="11"/>
          <p:cNvSpPr/>
          <p:nvPr/>
        </p:nvSpPr>
        <p:spPr>
          <a:xfrm flipH="false" flipV="false" rot="0">
            <a:off x="1028700" y="2734537"/>
            <a:ext cx="430242" cy="430242"/>
          </a:xfrm>
          <a:custGeom>
            <a:avLst/>
            <a:gdLst/>
            <a:ahLst/>
            <a:cxnLst/>
            <a:rect r="r" b="b" t="t" l="l"/>
            <a:pathLst>
              <a:path h="430242" w="430242">
                <a:moveTo>
                  <a:pt x="0" y="0"/>
                </a:moveTo>
                <a:lnTo>
                  <a:pt x="430242" y="0"/>
                </a:lnTo>
                <a:lnTo>
                  <a:pt x="430242" y="430241"/>
                </a:lnTo>
                <a:lnTo>
                  <a:pt x="0" y="4302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721886" y="6025925"/>
            <a:ext cx="7132561" cy="2312924"/>
          </a:xfrm>
          <a:prstGeom prst="rect">
            <a:avLst/>
          </a:prstGeom>
        </p:spPr>
        <p:txBody>
          <a:bodyPr anchor="t" rtlCol="false" tIns="0" lIns="0" bIns="0" rIns="0">
            <a:spAutoFit/>
          </a:bodyPr>
          <a:lstStyle/>
          <a:p>
            <a:pPr algn="just" marL="496571" indent="-248285" lvl="1">
              <a:lnSpc>
                <a:spcPts val="2323"/>
              </a:lnSpc>
              <a:buFont typeface="Arial"/>
              <a:buChar char="•"/>
            </a:pPr>
            <a:r>
              <a:rPr lang="en-US" sz="2300">
                <a:solidFill>
                  <a:srgbClr val="368CD1"/>
                </a:solidFill>
                <a:latin typeface="Poppins"/>
                <a:ea typeface="Poppins"/>
                <a:cs typeface="Poppins"/>
                <a:sym typeface="Poppins"/>
              </a:rPr>
              <a:t>Mengunduh 6 data dari masing-masing sumber bps provinsi.</a:t>
            </a:r>
          </a:p>
          <a:p>
            <a:pPr algn="just" marL="496571" indent="-248285" lvl="1">
              <a:lnSpc>
                <a:spcPts val="2323"/>
              </a:lnSpc>
              <a:buFont typeface="Arial"/>
              <a:buChar char="•"/>
            </a:pPr>
            <a:r>
              <a:rPr lang="en-US" sz="2300">
                <a:solidFill>
                  <a:srgbClr val="368CD1"/>
                </a:solidFill>
                <a:latin typeface="Poppins"/>
                <a:ea typeface="Poppins"/>
                <a:cs typeface="Poppins"/>
                <a:sym typeface="Poppins"/>
              </a:rPr>
              <a:t>Terdapat beberapa file yang berbeda format, sehingga harus disamakan terlebih dahulu sebelum dilakukan integrasi data</a:t>
            </a:r>
          </a:p>
          <a:p>
            <a:pPr algn="just" marL="496571" indent="-248285" lvl="1">
              <a:lnSpc>
                <a:spcPts val="2323"/>
              </a:lnSpc>
              <a:buFont typeface="Arial"/>
              <a:buChar char="•"/>
            </a:pPr>
            <a:r>
              <a:rPr lang="en-US" sz="2300">
                <a:solidFill>
                  <a:srgbClr val="368CD1"/>
                </a:solidFill>
                <a:latin typeface="Poppins"/>
                <a:ea typeface="Poppins"/>
                <a:cs typeface="Poppins"/>
                <a:sym typeface="Poppins"/>
              </a:rPr>
              <a:t>Setelah semua file seragam, maka akan dilakukan integrasi data, dari yang sebelumnya 6 file menjadi 1 file dataset.</a:t>
            </a:r>
          </a:p>
        </p:txBody>
      </p:sp>
      <p:sp>
        <p:nvSpPr>
          <p:cNvPr name="TextBox 13" id="13"/>
          <p:cNvSpPr txBox="true"/>
          <p:nvPr/>
        </p:nvSpPr>
        <p:spPr>
          <a:xfrm rot="0">
            <a:off x="1721886" y="5474500"/>
            <a:ext cx="6596846" cy="424815"/>
          </a:xfrm>
          <a:prstGeom prst="rect">
            <a:avLst/>
          </a:prstGeom>
        </p:spPr>
        <p:txBody>
          <a:bodyPr anchor="t" rtlCol="false" tIns="0" lIns="0" bIns="0" rIns="0">
            <a:spAutoFit/>
          </a:bodyPr>
          <a:lstStyle/>
          <a:p>
            <a:pPr algn="l">
              <a:lnSpc>
                <a:spcPts val="3030"/>
              </a:lnSpc>
            </a:pPr>
            <a:r>
              <a:rPr lang="en-US" sz="3000" b="true">
                <a:solidFill>
                  <a:srgbClr val="368CD1"/>
                </a:solidFill>
                <a:latin typeface="Poppins Bold"/>
                <a:ea typeface="Poppins Bold"/>
                <a:cs typeface="Poppins Bold"/>
                <a:sym typeface="Poppins Bold"/>
              </a:rPr>
              <a:t>Data Inflasi (BPS)</a:t>
            </a:r>
          </a:p>
        </p:txBody>
      </p:sp>
      <p:grpSp>
        <p:nvGrpSpPr>
          <p:cNvPr name="Group 14" id="14"/>
          <p:cNvGrpSpPr/>
          <p:nvPr/>
        </p:nvGrpSpPr>
        <p:grpSpPr>
          <a:xfrm rot="0">
            <a:off x="10126739" y="2722962"/>
            <a:ext cx="7132561" cy="2892924"/>
            <a:chOff x="0" y="0"/>
            <a:chExt cx="9510082" cy="3857232"/>
          </a:xfrm>
        </p:grpSpPr>
        <p:sp>
          <p:nvSpPr>
            <p:cNvPr name="TextBox 15" id="15"/>
            <p:cNvSpPr txBox="true"/>
            <p:nvPr/>
          </p:nvSpPr>
          <p:spPr>
            <a:xfrm rot="0">
              <a:off x="0" y="763809"/>
              <a:ext cx="9510082" cy="3093424"/>
            </a:xfrm>
            <a:prstGeom prst="rect">
              <a:avLst/>
            </a:prstGeom>
          </p:spPr>
          <p:txBody>
            <a:bodyPr anchor="t" rtlCol="false" tIns="0" lIns="0" bIns="0" rIns="0">
              <a:spAutoFit/>
            </a:bodyPr>
            <a:lstStyle/>
            <a:p>
              <a:pPr algn="just" marL="496571" indent="-248285" lvl="1">
                <a:lnSpc>
                  <a:spcPts val="2323"/>
                </a:lnSpc>
                <a:buFont typeface="Arial"/>
                <a:buChar char="•"/>
              </a:pPr>
              <a:r>
                <a:rPr lang="en-US" sz="2300">
                  <a:solidFill>
                    <a:srgbClr val="368CD1"/>
                  </a:solidFill>
                  <a:latin typeface="Poppins"/>
                  <a:ea typeface="Poppins"/>
                  <a:cs typeface="Poppins"/>
                  <a:sym typeface="Poppins"/>
                </a:rPr>
                <a:t>Setiap komoditas disimpan di file terpisah dengan format wide, sehingga terdapat 10 file</a:t>
              </a:r>
            </a:p>
            <a:p>
              <a:pPr algn="just" marL="496571" indent="-248285" lvl="1">
                <a:lnSpc>
                  <a:spcPts val="2323"/>
                </a:lnSpc>
                <a:buFont typeface="Arial"/>
                <a:buChar char="•"/>
              </a:pPr>
              <a:r>
                <a:rPr lang="en-US" sz="2300">
                  <a:solidFill>
                    <a:srgbClr val="368CD1"/>
                  </a:solidFill>
                  <a:latin typeface="Poppins"/>
                  <a:ea typeface="Poppins"/>
                  <a:cs typeface="Poppins"/>
                  <a:sym typeface="Poppins"/>
                </a:rPr>
                <a:t>Mentransformasikan format wide menjadi long (melt)</a:t>
              </a:r>
            </a:p>
            <a:p>
              <a:pPr algn="just" marL="496571" indent="-248285" lvl="1">
                <a:lnSpc>
                  <a:spcPts val="2323"/>
                </a:lnSpc>
                <a:buFont typeface="Arial"/>
                <a:buChar char="•"/>
              </a:pPr>
              <a:r>
                <a:rPr lang="en-US" sz="2300">
                  <a:solidFill>
                    <a:srgbClr val="368CD1"/>
                  </a:solidFill>
                  <a:latin typeface="Poppins"/>
                  <a:ea typeface="Poppins"/>
                  <a:cs typeface="Poppins"/>
                  <a:sym typeface="Poppins"/>
                </a:rPr>
                <a:t>File output berisi dataset gabungan, dari yang sebelumnya 10 file menjadi 1 file dataset.</a:t>
              </a:r>
            </a:p>
          </p:txBody>
        </p:sp>
        <p:sp>
          <p:nvSpPr>
            <p:cNvPr name="TextBox 16" id="16"/>
            <p:cNvSpPr txBox="true"/>
            <p:nvPr/>
          </p:nvSpPr>
          <p:spPr>
            <a:xfrm rot="0">
              <a:off x="0" y="28575"/>
              <a:ext cx="8795794" cy="575945"/>
            </a:xfrm>
            <a:prstGeom prst="rect">
              <a:avLst/>
            </a:prstGeom>
          </p:spPr>
          <p:txBody>
            <a:bodyPr anchor="t" rtlCol="false" tIns="0" lIns="0" bIns="0" rIns="0">
              <a:spAutoFit/>
            </a:bodyPr>
            <a:lstStyle/>
            <a:p>
              <a:pPr algn="l">
                <a:lnSpc>
                  <a:spcPts val="3030"/>
                </a:lnSpc>
              </a:pPr>
              <a:r>
                <a:rPr lang="en-US" sz="3000" b="true">
                  <a:solidFill>
                    <a:srgbClr val="368CD1"/>
                  </a:solidFill>
                  <a:latin typeface="Poppins Bold"/>
                  <a:ea typeface="Poppins Bold"/>
                  <a:cs typeface="Poppins Bold"/>
                  <a:sym typeface="Poppins Bold"/>
                </a:rPr>
                <a:t>Data Harga Komoditas (PIHPS)</a:t>
              </a:r>
            </a:p>
          </p:txBody>
        </p:sp>
      </p:grpSp>
      <p:sp>
        <p:nvSpPr>
          <p:cNvPr name="Freeform 17" id="17"/>
          <p:cNvSpPr/>
          <p:nvPr/>
        </p:nvSpPr>
        <p:spPr>
          <a:xfrm flipH="false" flipV="false" rot="0">
            <a:off x="1028700" y="5457499"/>
            <a:ext cx="430242" cy="430242"/>
          </a:xfrm>
          <a:custGeom>
            <a:avLst/>
            <a:gdLst/>
            <a:ahLst/>
            <a:cxnLst/>
            <a:rect r="r" b="b" t="t" l="l"/>
            <a:pathLst>
              <a:path h="430242" w="430242">
                <a:moveTo>
                  <a:pt x="0" y="0"/>
                </a:moveTo>
                <a:lnTo>
                  <a:pt x="430242" y="0"/>
                </a:lnTo>
                <a:lnTo>
                  <a:pt x="430242" y="430242"/>
                </a:lnTo>
                <a:lnTo>
                  <a:pt x="0" y="4302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9509138" y="2734537"/>
            <a:ext cx="430242" cy="430242"/>
          </a:xfrm>
          <a:custGeom>
            <a:avLst/>
            <a:gdLst/>
            <a:ahLst/>
            <a:cxnLst/>
            <a:rect r="r" b="b" t="t" l="l"/>
            <a:pathLst>
              <a:path h="430242" w="430242">
                <a:moveTo>
                  <a:pt x="0" y="0"/>
                </a:moveTo>
                <a:lnTo>
                  <a:pt x="430241" y="0"/>
                </a:lnTo>
                <a:lnTo>
                  <a:pt x="430241" y="430241"/>
                </a:lnTo>
                <a:lnTo>
                  <a:pt x="0" y="4302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9" id="19"/>
          <p:cNvGrpSpPr/>
          <p:nvPr/>
        </p:nvGrpSpPr>
        <p:grpSpPr>
          <a:xfrm rot="0">
            <a:off x="10126739" y="5887741"/>
            <a:ext cx="7132561" cy="2892924"/>
            <a:chOff x="0" y="0"/>
            <a:chExt cx="9510082" cy="3857232"/>
          </a:xfrm>
        </p:grpSpPr>
        <p:sp>
          <p:nvSpPr>
            <p:cNvPr name="TextBox 20" id="20"/>
            <p:cNvSpPr txBox="true"/>
            <p:nvPr/>
          </p:nvSpPr>
          <p:spPr>
            <a:xfrm rot="0">
              <a:off x="0" y="763809"/>
              <a:ext cx="9510082" cy="3093424"/>
            </a:xfrm>
            <a:prstGeom prst="rect">
              <a:avLst/>
            </a:prstGeom>
          </p:spPr>
          <p:txBody>
            <a:bodyPr anchor="t" rtlCol="false" tIns="0" lIns="0" bIns="0" rIns="0">
              <a:spAutoFit/>
            </a:bodyPr>
            <a:lstStyle/>
            <a:p>
              <a:pPr algn="just" marL="496571" indent="-248285" lvl="1">
                <a:lnSpc>
                  <a:spcPts val="2323"/>
                </a:lnSpc>
                <a:buFont typeface="Arial"/>
                <a:buChar char="•"/>
              </a:pPr>
              <a:r>
                <a:rPr lang="en-US" sz="2300">
                  <a:solidFill>
                    <a:srgbClr val="368CD1"/>
                  </a:solidFill>
                  <a:latin typeface="Poppins"/>
                  <a:ea typeface="Poppins"/>
                  <a:cs typeface="Poppins"/>
                  <a:sym typeface="Poppins"/>
                </a:rPr>
                <a:t>Menggabungkan data curah hujan, inflasi, dan harga komoditas.</a:t>
              </a:r>
            </a:p>
            <a:p>
              <a:pPr algn="just" marL="496571" indent="-248285" lvl="1">
                <a:lnSpc>
                  <a:spcPts val="2323"/>
                </a:lnSpc>
                <a:buFont typeface="Arial"/>
                <a:buChar char="•"/>
              </a:pPr>
              <a:r>
                <a:rPr lang="en-US" sz="2300">
                  <a:solidFill>
                    <a:srgbClr val="368CD1"/>
                  </a:solidFill>
                  <a:latin typeface="Poppins"/>
                  <a:ea typeface="Poppins"/>
                  <a:cs typeface="Poppins"/>
                  <a:sym typeface="Poppins"/>
                </a:rPr>
                <a:t>Merge dilakukan secara bertahap: curah hujan &amp; data inflasi, dan hasil curah hujan &amp; inflasi dengan data harga komoditas</a:t>
              </a:r>
            </a:p>
            <a:p>
              <a:pPr algn="just" marL="496571" indent="-248285" lvl="1">
                <a:lnSpc>
                  <a:spcPts val="2323"/>
                </a:lnSpc>
                <a:buFont typeface="Arial"/>
                <a:buChar char="•"/>
              </a:pPr>
              <a:r>
                <a:rPr lang="en-US" sz="2300">
                  <a:solidFill>
                    <a:srgbClr val="368CD1"/>
                  </a:solidFill>
                  <a:latin typeface="Poppins"/>
                  <a:ea typeface="Poppins"/>
                  <a:cs typeface="Poppins"/>
                  <a:sym typeface="Poppins"/>
                </a:rPr>
                <a:t>Dihasilkan dataset lengkap untuk dilakukan tahap selanjutnya berupa eksplorasi dan visualisasi</a:t>
              </a:r>
            </a:p>
          </p:txBody>
        </p:sp>
        <p:sp>
          <p:nvSpPr>
            <p:cNvPr name="TextBox 21" id="21"/>
            <p:cNvSpPr txBox="true"/>
            <p:nvPr/>
          </p:nvSpPr>
          <p:spPr>
            <a:xfrm rot="0">
              <a:off x="0" y="28575"/>
              <a:ext cx="8795794" cy="575945"/>
            </a:xfrm>
            <a:prstGeom prst="rect">
              <a:avLst/>
            </a:prstGeom>
          </p:spPr>
          <p:txBody>
            <a:bodyPr anchor="t" rtlCol="false" tIns="0" lIns="0" bIns="0" rIns="0">
              <a:spAutoFit/>
            </a:bodyPr>
            <a:lstStyle/>
            <a:p>
              <a:pPr algn="l">
                <a:lnSpc>
                  <a:spcPts val="3030"/>
                </a:lnSpc>
              </a:pPr>
              <a:r>
                <a:rPr lang="en-US" sz="3000" b="true">
                  <a:solidFill>
                    <a:srgbClr val="368CD1"/>
                  </a:solidFill>
                  <a:latin typeface="Poppins Bold"/>
                  <a:ea typeface="Poppins Bold"/>
                  <a:cs typeface="Poppins Bold"/>
                  <a:sym typeface="Poppins Bold"/>
                </a:rPr>
                <a:t>Final Integrasi</a:t>
              </a:r>
            </a:p>
          </p:txBody>
        </p:sp>
      </p:grpSp>
      <p:sp>
        <p:nvSpPr>
          <p:cNvPr name="Freeform 22" id="22"/>
          <p:cNvSpPr/>
          <p:nvPr/>
        </p:nvSpPr>
        <p:spPr>
          <a:xfrm flipH="false" flipV="false" rot="0">
            <a:off x="9509138" y="5899315"/>
            <a:ext cx="430242" cy="430242"/>
          </a:xfrm>
          <a:custGeom>
            <a:avLst/>
            <a:gdLst/>
            <a:ahLst/>
            <a:cxnLst/>
            <a:rect r="r" b="b" t="t" l="l"/>
            <a:pathLst>
              <a:path h="430242" w="430242">
                <a:moveTo>
                  <a:pt x="0" y="0"/>
                </a:moveTo>
                <a:lnTo>
                  <a:pt x="430241" y="0"/>
                </a:lnTo>
                <a:lnTo>
                  <a:pt x="430241" y="430241"/>
                </a:lnTo>
                <a:lnTo>
                  <a:pt x="0" y="4302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941599" y="-5383146"/>
            <a:ext cx="13145186" cy="11209259"/>
          </a:xfrm>
          <a:custGeom>
            <a:avLst/>
            <a:gdLst/>
            <a:ahLst/>
            <a:cxnLst/>
            <a:rect r="r" b="b" t="t" l="l"/>
            <a:pathLst>
              <a:path h="11209259" w="13145186">
                <a:moveTo>
                  <a:pt x="0" y="0"/>
                </a:moveTo>
                <a:lnTo>
                  <a:pt x="13145186" y="0"/>
                </a:lnTo>
                <a:lnTo>
                  <a:pt x="13145186" y="11209259"/>
                </a:lnTo>
                <a:lnTo>
                  <a:pt x="0" y="11209259"/>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689186" y="221484"/>
            <a:ext cx="2167604" cy="2378715"/>
          </a:xfrm>
          <a:custGeom>
            <a:avLst/>
            <a:gdLst/>
            <a:ahLst/>
            <a:cxnLst/>
            <a:rect r="r" b="b" t="t" l="l"/>
            <a:pathLst>
              <a:path h="2378715" w="2167604">
                <a:moveTo>
                  <a:pt x="0" y="0"/>
                </a:moveTo>
                <a:lnTo>
                  <a:pt x="2167604" y="0"/>
                </a:lnTo>
                <a:lnTo>
                  <a:pt x="2167604" y="2378714"/>
                </a:lnTo>
                <a:lnTo>
                  <a:pt x="0" y="2378714"/>
                </a:lnTo>
                <a:lnTo>
                  <a:pt x="0" y="0"/>
                </a:lnTo>
                <a:close/>
              </a:path>
            </a:pathLst>
          </a:custGeom>
          <a:blipFill>
            <a:blip r:embed="rId5"/>
            <a:stretch>
              <a:fillRect l="0" t="0" r="0" b="0"/>
            </a:stretch>
          </a:blipFill>
        </p:spPr>
      </p:sp>
      <p:sp>
        <p:nvSpPr>
          <p:cNvPr name="Freeform 8" id="8"/>
          <p:cNvSpPr/>
          <p:nvPr/>
        </p:nvSpPr>
        <p:spPr>
          <a:xfrm flipH="false" flipV="false" rot="0">
            <a:off x="3066686" y="1004470"/>
            <a:ext cx="487499" cy="450271"/>
          </a:xfrm>
          <a:custGeom>
            <a:avLst/>
            <a:gdLst/>
            <a:ahLst/>
            <a:cxnLst/>
            <a:rect r="r" b="b" t="t" l="l"/>
            <a:pathLst>
              <a:path h="450271" w="487499">
                <a:moveTo>
                  <a:pt x="0" y="0"/>
                </a:moveTo>
                <a:lnTo>
                  <a:pt x="487499" y="0"/>
                </a:lnTo>
                <a:lnTo>
                  <a:pt x="487499" y="450272"/>
                </a:lnTo>
                <a:lnTo>
                  <a:pt x="0" y="4502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196518" y="1746241"/>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0" y="3360154"/>
            <a:ext cx="18427514" cy="1913119"/>
          </a:xfrm>
          <a:custGeom>
            <a:avLst/>
            <a:gdLst/>
            <a:ahLst/>
            <a:cxnLst/>
            <a:rect r="r" b="b" t="t" l="l"/>
            <a:pathLst>
              <a:path h="1913119" w="18427514">
                <a:moveTo>
                  <a:pt x="0" y="0"/>
                </a:moveTo>
                <a:lnTo>
                  <a:pt x="18427514" y="0"/>
                </a:lnTo>
                <a:lnTo>
                  <a:pt x="18427514" y="1913119"/>
                </a:lnTo>
                <a:lnTo>
                  <a:pt x="0" y="1913119"/>
                </a:lnTo>
                <a:lnTo>
                  <a:pt x="0" y="0"/>
                </a:lnTo>
                <a:close/>
              </a:path>
            </a:pathLst>
          </a:custGeom>
          <a:blipFill>
            <a:blip r:embed="rId10"/>
            <a:stretch>
              <a:fillRect l="0" t="0" r="0" b="0"/>
            </a:stretch>
          </a:blipFill>
        </p:spPr>
      </p:sp>
      <p:sp>
        <p:nvSpPr>
          <p:cNvPr name="TextBox 11" id="11"/>
          <p:cNvSpPr txBox="true"/>
          <p:nvPr/>
        </p:nvSpPr>
        <p:spPr>
          <a:xfrm rot="0">
            <a:off x="3554185" y="764151"/>
            <a:ext cx="7697580"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Data Cleaning</a:t>
            </a:r>
          </a:p>
        </p:txBody>
      </p:sp>
      <p:sp>
        <p:nvSpPr>
          <p:cNvPr name="TextBox 12" id="12"/>
          <p:cNvSpPr txBox="true"/>
          <p:nvPr/>
        </p:nvSpPr>
        <p:spPr>
          <a:xfrm rot="0">
            <a:off x="3624029" y="1774816"/>
            <a:ext cx="6596846" cy="424815"/>
          </a:xfrm>
          <a:prstGeom prst="rect">
            <a:avLst/>
          </a:prstGeom>
        </p:spPr>
        <p:txBody>
          <a:bodyPr anchor="t" rtlCol="false" tIns="0" lIns="0" bIns="0" rIns="0">
            <a:spAutoFit/>
          </a:bodyPr>
          <a:lstStyle/>
          <a:p>
            <a:pPr algn="l">
              <a:lnSpc>
                <a:spcPts val="3030"/>
              </a:lnSpc>
            </a:pPr>
            <a:r>
              <a:rPr lang="en-US" sz="3000" b="true">
                <a:solidFill>
                  <a:srgbClr val="368CD1"/>
                </a:solidFill>
                <a:latin typeface="Poppins Bold"/>
                <a:ea typeface="Poppins Bold"/>
                <a:cs typeface="Poppins Bold"/>
                <a:sym typeface="Poppins Bold"/>
              </a:rPr>
              <a:t>Data Curah Hujan (BMKG)</a:t>
            </a:r>
          </a:p>
        </p:txBody>
      </p:sp>
      <p:sp>
        <p:nvSpPr>
          <p:cNvPr name="TextBox 13" id="13"/>
          <p:cNvSpPr txBox="true"/>
          <p:nvPr/>
        </p:nvSpPr>
        <p:spPr>
          <a:xfrm rot="0">
            <a:off x="305003" y="5545681"/>
            <a:ext cx="8335303" cy="3439287"/>
          </a:xfrm>
          <a:prstGeom prst="rect">
            <a:avLst/>
          </a:prstGeom>
        </p:spPr>
        <p:txBody>
          <a:bodyPr anchor="t" rtlCol="false" tIns="0" lIns="0" bIns="0" rIns="0">
            <a:spAutoFit/>
          </a:bodyPr>
          <a:lstStyle/>
          <a:p>
            <a:pPr algn="just">
              <a:lnSpc>
                <a:spcPts val="2423"/>
              </a:lnSpc>
            </a:pPr>
            <a:r>
              <a:rPr lang="en-US" sz="2399" b="true">
                <a:solidFill>
                  <a:srgbClr val="368CD1"/>
                </a:solidFill>
                <a:latin typeface="Poppins Bold"/>
                <a:ea typeface="Poppins Bold"/>
                <a:cs typeface="Poppins Bold"/>
                <a:sym typeface="Poppins Bold"/>
              </a:rPr>
              <a:t>Proses Cleaning Data</a:t>
            </a:r>
          </a:p>
          <a:p>
            <a:pPr algn="just">
              <a:lnSpc>
                <a:spcPts val="2423"/>
              </a:lnSpc>
            </a:pPr>
          </a:p>
          <a:p>
            <a:pPr algn="just" marL="474979" indent="-237490" lvl="1">
              <a:lnSpc>
                <a:spcPts val="2221"/>
              </a:lnSpc>
              <a:buFont typeface="Arial"/>
              <a:buChar char="•"/>
            </a:pPr>
            <a:r>
              <a:rPr lang="en-US" sz="2199">
                <a:solidFill>
                  <a:srgbClr val="368CD1"/>
                </a:solidFill>
                <a:latin typeface="Poppins"/>
                <a:ea typeface="Poppins"/>
                <a:cs typeface="Poppins"/>
                <a:sym typeface="Poppins"/>
              </a:rPr>
              <a:t>Hanya membaca kolom TANGGAL dan PR Precipitation  Rainfall (Curah Hujan) sehingga diperoleh skip 7 header. </a:t>
            </a:r>
          </a:p>
          <a:p>
            <a:pPr algn="just" marL="474979" indent="-237490" lvl="1">
              <a:lnSpc>
                <a:spcPts val="2221"/>
              </a:lnSpc>
              <a:buFont typeface="Arial"/>
              <a:buChar char="•"/>
            </a:pPr>
            <a:r>
              <a:rPr lang="en-US" sz="2199">
                <a:solidFill>
                  <a:srgbClr val="368CD1"/>
                </a:solidFill>
                <a:latin typeface="Poppins"/>
                <a:ea typeface="Poppins"/>
                <a:cs typeface="Poppins"/>
                <a:sym typeface="Poppins"/>
              </a:rPr>
              <a:t>Hapus baris teks sisa header. </a:t>
            </a:r>
          </a:p>
          <a:p>
            <a:pPr algn="just" marL="474979" indent="-237490" lvl="1">
              <a:lnSpc>
                <a:spcPts val="2221"/>
              </a:lnSpc>
              <a:buFont typeface="Arial"/>
              <a:buChar char="•"/>
            </a:pPr>
            <a:r>
              <a:rPr lang="en-US" sz="2199">
                <a:solidFill>
                  <a:srgbClr val="368CD1"/>
                </a:solidFill>
                <a:latin typeface="Poppins"/>
                <a:ea typeface="Poppins"/>
                <a:cs typeface="Poppins"/>
                <a:sym typeface="Poppins"/>
              </a:rPr>
              <a:t>Nilai error (8888, 9999, "-") diganti jadi NaN. </a:t>
            </a:r>
          </a:p>
          <a:p>
            <a:pPr algn="just" marL="474979" indent="-237490" lvl="1">
              <a:lnSpc>
                <a:spcPts val="2221"/>
              </a:lnSpc>
              <a:buFont typeface="Arial"/>
              <a:buChar char="•"/>
            </a:pPr>
            <a:r>
              <a:rPr lang="en-US" sz="2199">
                <a:solidFill>
                  <a:srgbClr val="368CD1"/>
                </a:solidFill>
                <a:latin typeface="Poppins"/>
                <a:ea typeface="Poppins"/>
                <a:cs typeface="Poppins"/>
                <a:sym typeface="Poppins"/>
              </a:rPr>
              <a:t>Konversi TANGGAL → datetime lalu PR → numeric, hapus baris kosong. </a:t>
            </a:r>
          </a:p>
          <a:p>
            <a:pPr algn="just" marL="474979" indent="-237490" lvl="1">
              <a:lnSpc>
                <a:spcPts val="2221"/>
              </a:lnSpc>
              <a:buFont typeface="Arial"/>
              <a:buChar char="•"/>
            </a:pPr>
            <a:r>
              <a:rPr lang="en-US" sz="2199">
                <a:solidFill>
                  <a:srgbClr val="368CD1"/>
                </a:solidFill>
                <a:latin typeface="Poppins"/>
                <a:ea typeface="Poppins"/>
                <a:cs typeface="Poppins"/>
                <a:sym typeface="Poppins"/>
              </a:rPr>
              <a:t>Data tiap file digabung, dibersihkan duplikat, dan diurutkan.</a:t>
            </a:r>
          </a:p>
          <a:p>
            <a:pPr algn="just">
              <a:lnSpc>
                <a:spcPts val="2423"/>
              </a:lnSpc>
            </a:pPr>
          </a:p>
        </p:txBody>
      </p:sp>
      <p:sp>
        <p:nvSpPr>
          <p:cNvPr name="TextBox 14" id="14"/>
          <p:cNvSpPr txBox="true"/>
          <p:nvPr/>
        </p:nvSpPr>
        <p:spPr>
          <a:xfrm rot="0">
            <a:off x="9337199" y="5545681"/>
            <a:ext cx="8335303" cy="2774823"/>
          </a:xfrm>
          <a:prstGeom prst="rect">
            <a:avLst/>
          </a:prstGeom>
        </p:spPr>
        <p:txBody>
          <a:bodyPr anchor="t" rtlCol="false" tIns="0" lIns="0" bIns="0" rIns="0">
            <a:spAutoFit/>
          </a:bodyPr>
          <a:lstStyle/>
          <a:p>
            <a:pPr algn="just">
              <a:lnSpc>
                <a:spcPts val="2424"/>
              </a:lnSpc>
            </a:pPr>
            <a:r>
              <a:rPr lang="en-US" sz="2400" b="true">
                <a:solidFill>
                  <a:srgbClr val="368CD1"/>
                </a:solidFill>
                <a:latin typeface="Poppins Bold"/>
                <a:ea typeface="Poppins Bold"/>
                <a:cs typeface="Poppins Bold"/>
                <a:sym typeface="Poppins Bold"/>
              </a:rPr>
              <a:t>Output Program</a:t>
            </a:r>
          </a:p>
          <a:p>
            <a:pPr algn="just">
              <a:lnSpc>
                <a:spcPts val="2222"/>
              </a:lnSpc>
            </a:pPr>
          </a:p>
          <a:p>
            <a:pPr algn="just" marL="474983" indent="-237491" lvl="1">
              <a:lnSpc>
                <a:spcPts val="2222"/>
              </a:lnSpc>
              <a:buFont typeface="Arial"/>
              <a:buChar char="•"/>
            </a:pPr>
            <a:r>
              <a:rPr lang="en-US" sz="2200">
                <a:solidFill>
                  <a:srgbClr val="368CD1"/>
                </a:solidFill>
                <a:latin typeface="Poppins"/>
                <a:ea typeface="Poppins"/>
                <a:cs typeface="Poppins"/>
                <a:sym typeface="Poppins"/>
              </a:rPr>
              <a:t>Setiap provinsi berhasil digabung dan disimpan ke file Excel.</a:t>
            </a:r>
          </a:p>
          <a:p>
            <a:pPr algn="just" marL="474983" indent="-237491" lvl="1">
              <a:lnSpc>
                <a:spcPts val="2222"/>
              </a:lnSpc>
              <a:buFont typeface="Arial"/>
              <a:buChar char="•"/>
            </a:pPr>
            <a:r>
              <a:rPr lang="en-US" sz="2200">
                <a:solidFill>
                  <a:srgbClr val="368CD1"/>
                </a:solidFill>
                <a:latin typeface="Poppins"/>
                <a:ea typeface="Poppins"/>
                <a:cs typeface="Poppins"/>
                <a:sym typeface="Poppins"/>
              </a:rPr>
              <a:t>Output menunjukkan enam provinsi diproses dengan berhasil: Banten, DKI Jakarta, Jawa Barat, Jawa Tengah, DI Yogyakarta, dan Jawa Timur.</a:t>
            </a:r>
          </a:p>
          <a:p>
            <a:pPr algn="just" marL="474983" indent="-237491" lvl="1">
              <a:lnSpc>
                <a:spcPts val="2222"/>
              </a:lnSpc>
              <a:buFont typeface="Arial"/>
              <a:buChar char="•"/>
            </a:pPr>
            <a:r>
              <a:rPr lang="en-US" sz="2200">
                <a:solidFill>
                  <a:srgbClr val="368CD1"/>
                </a:solidFill>
                <a:latin typeface="Poppins"/>
                <a:ea typeface="Poppins"/>
                <a:cs typeface="Poppins"/>
                <a:sym typeface="Poppins"/>
              </a:rPr>
              <a:t>Pesan akhir “Semua provinsi selesai diproses!” menandakan seluruh proses berjalan tanpa error.</a:t>
            </a:r>
          </a:p>
          <a:p>
            <a:pPr algn="just">
              <a:lnSpc>
                <a:spcPts val="1818"/>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041291" y="-5383146"/>
            <a:ext cx="13145186" cy="11209259"/>
          </a:xfrm>
          <a:custGeom>
            <a:avLst/>
            <a:gdLst/>
            <a:ahLst/>
            <a:cxnLst/>
            <a:rect r="r" b="b" t="t" l="l"/>
            <a:pathLst>
              <a:path h="11209259" w="13145186">
                <a:moveTo>
                  <a:pt x="0" y="0"/>
                </a:moveTo>
                <a:lnTo>
                  <a:pt x="13145186" y="0"/>
                </a:lnTo>
                <a:lnTo>
                  <a:pt x="13145186" y="11209259"/>
                </a:lnTo>
                <a:lnTo>
                  <a:pt x="0" y="11209259"/>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689186" y="221484"/>
            <a:ext cx="2167604" cy="2378715"/>
          </a:xfrm>
          <a:custGeom>
            <a:avLst/>
            <a:gdLst/>
            <a:ahLst/>
            <a:cxnLst/>
            <a:rect r="r" b="b" t="t" l="l"/>
            <a:pathLst>
              <a:path h="2378715" w="2167604">
                <a:moveTo>
                  <a:pt x="0" y="0"/>
                </a:moveTo>
                <a:lnTo>
                  <a:pt x="2167604" y="0"/>
                </a:lnTo>
                <a:lnTo>
                  <a:pt x="2167604" y="2378714"/>
                </a:lnTo>
                <a:lnTo>
                  <a:pt x="0" y="2378714"/>
                </a:lnTo>
                <a:lnTo>
                  <a:pt x="0" y="0"/>
                </a:lnTo>
                <a:close/>
              </a:path>
            </a:pathLst>
          </a:custGeom>
          <a:blipFill>
            <a:blip r:embed="rId5"/>
            <a:stretch>
              <a:fillRect l="0" t="0" r="0" b="0"/>
            </a:stretch>
          </a:blipFill>
        </p:spPr>
      </p:sp>
      <p:sp>
        <p:nvSpPr>
          <p:cNvPr name="Freeform 8" id="8"/>
          <p:cNvSpPr/>
          <p:nvPr/>
        </p:nvSpPr>
        <p:spPr>
          <a:xfrm flipH="false" flipV="false" rot="0">
            <a:off x="3066686" y="1004470"/>
            <a:ext cx="487499" cy="450271"/>
          </a:xfrm>
          <a:custGeom>
            <a:avLst/>
            <a:gdLst/>
            <a:ahLst/>
            <a:cxnLst/>
            <a:rect r="r" b="b" t="t" l="l"/>
            <a:pathLst>
              <a:path h="450271" w="487499">
                <a:moveTo>
                  <a:pt x="0" y="0"/>
                </a:moveTo>
                <a:lnTo>
                  <a:pt x="487499" y="0"/>
                </a:lnTo>
                <a:lnTo>
                  <a:pt x="487499" y="450272"/>
                </a:lnTo>
                <a:lnTo>
                  <a:pt x="0" y="4502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117901" y="1771261"/>
            <a:ext cx="385068" cy="385068"/>
          </a:xfrm>
          <a:custGeom>
            <a:avLst/>
            <a:gdLst/>
            <a:ahLst/>
            <a:cxnLst/>
            <a:rect r="r" b="b" t="t" l="l"/>
            <a:pathLst>
              <a:path h="385068" w="385068">
                <a:moveTo>
                  <a:pt x="0" y="0"/>
                </a:moveTo>
                <a:lnTo>
                  <a:pt x="385069" y="0"/>
                </a:lnTo>
                <a:lnTo>
                  <a:pt x="385069" y="385068"/>
                </a:lnTo>
                <a:lnTo>
                  <a:pt x="0" y="3850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296176" y="2615464"/>
            <a:ext cx="14995399" cy="3686195"/>
          </a:xfrm>
          <a:custGeom>
            <a:avLst/>
            <a:gdLst/>
            <a:ahLst/>
            <a:cxnLst/>
            <a:rect r="r" b="b" t="t" l="l"/>
            <a:pathLst>
              <a:path h="3686195" w="14995399">
                <a:moveTo>
                  <a:pt x="0" y="0"/>
                </a:moveTo>
                <a:lnTo>
                  <a:pt x="14995398" y="0"/>
                </a:lnTo>
                <a:lnTo>
                  <a:pt x="14995398" y="3686195"/>
                </a:lnTo>
                <a:lnTo>
                  <a:pt x="0" y="3686195"/>
                </a:lnTo>
                <a:lnTo>
                  <a:pt x="0" y="0"/>
                </a:lnTo>
                <a:close/>
              </a:path>
            </a:pathLst>
          </a:custGeom>
          <a:blipFill>
            <a:blip r:embed="rId10"/>
            <a:stretch>
              <a:fillRect l="0" t="0" r="0" b="0"/>
            </a:stretch>
          </a:blipFill>
        </p:spPr>
      </p:sp>
      <p:sp>
        <p:nvSpPr>
          <p:cNvPr name="TextBox 11" id="11"/>
          <p:cNvSpPr txBox="true"/>
          <p:nvPr/>
        </p:nvSpPr>
        <p:spPr>
          <a:xfrm rot="0">
            <a:off x="3554185" y="764151"/>
            <a:ext cx="7697580"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Data Cleaning</a:t>
            </a:r>
          </a:p>
        </p:txBody>
      </p:sp>
      <p:sp>
        <p:nvSpPr>
          <p:cNvPr name="TextBox 12" id="12"/>
          <p:cNvSpPr txBox="true"/>
          <p:nvPr/>
        </p:nvSpPr>
        <p:spPr>
          <a:xfrm rot="0">
            <a:off x="3582760" y="1790311"/>
            <a:ext cx="6596846" cy="424815"/>
          </a:xfrm>
          <a:prstGeom prst="rect">
            <a:avLst/>
          </a:prstGeom>
        </p:spPr>
        <p:txBody>
          <a:bodyPr anchor="t" rtlCol="false" tIns="0" lIns="0" bIns="0" rIns="0">
            <a:spAutoFit/>
          </a:bodyPr>
          <a:lstStyle/>
          <a:p>
            <a:pPr algn="l">
              <a:lnSpc>
                <a:spcPts val="3030"/>
              </a:lnSpc>
            </a:pPr>
            <a:r>
              <a:rPr lang="en-US" sz="3000" b="true">
                <a:solidFill>
                  <a:srgbClr val="368CD1"/>
                </a:solidFill>
                <a:latin typeface="Poppins Bold"/>
                <a:ea typeface="Poppins Bold"/>
                <a:cs typeface="Poppins Bold"/>
                <a:sym typeface="Poppins Bold"/>
              </a:rPr>
              <a:t>Data Inflasi (BPS)</a:t>
            </a:r>
          </a:p>
        </p:txBody>
      </p:sp>
      <p:sp>
        <p:nvSpPr>
          <p:cNvPr name="TextBox 13" id="13"/>
          <p:cNvSpPr txBox="true"/>
          <p:nvPr/>
        </p:nvSpPr>
        <p:spPr>
          <a:xfrm rot="0">
            <a:off x="296176" y="6458822"/>
            <a:ext cx="8335303" cy="3163062"/>
          </a:xfrm>
          <a:prstGeom prst="rect">
            <a:avLst/>
          </a:prstGeom>
        </p:spPr>
        <p:txBody>
          <a:bodyPr anchor="t" rtlCol="false" tIns="0" lIns="0" bIns="0" rIns="0">
            <a:spAutoFit/>
          </a:bodyPr>
          <a:lstStyle/>
          <a:p>
            <a:pPr algn="just">
              <a:lnSpc>
                <a:spcPts val="2423"/>
              </a:lnSpc>
            </a:pPr>
            <a:r>
              <a:rPr lang="en-US" sz="2399" b="true">
                <a:solidFill>
                  <a:srgbClr val="368CD1"/>
                </a:solidFill>
                <a:latin typeface="Poppins Bold"/>
                <a:ea typeface="Poppins Bold"/>
                <a:cs typeface="Poppins Bold"/>
                <a:sym typeface="Poppins Bold"/>
              </a:rPr>
              <a:t>Proses Cleaning Data</a:t>
            </a:r>
          </a:p>
          <a:p>
            <a:pPr algn="just">
              <a:lnSpc>
                <a:spcPts val="2423"/>
              </a:lnSpc>
            </a:pPr>
          </a:p>
          <a:p>
            <a:pPr algn="just" marL="474979" indent="-237490" lvl="1">
              <a:lnSpc>
                <a:spcPts val="2221"/>
              </a:lnSpc>
              <a:buFont typeface="Arial"/>
              <a:buChar char="•"/>
            </a:pPr>
            <a:r>
              <a:rPr lang="en-US" sz="2199">
                <a:solidFill>
                  <a:srgbClr val="368CD1"/>
                </a:solidFill>
                <a:latin typeface="Poppins"/>
                <a:ea typeface="Poppins"/>
                <a:cs typeface="Poppins"/>
                <a:sym typeface="Poppins"/>
              </a:rPr>
              <a:t>Header tiap file berbeda → dideteksi otomatis.</a:t>
            </a:r>
          </a:p>
          <a:p>
            <a:pPr algn="just" marL="474979" indent="-237490" lvl="1">
              <a:lnSpc>
                <a:spcPts val="2221"/>
              </a:lnSpc>
              <a:buFont typeface="Arial"/>
              <a:buChar char="•"/>
            </a:pPr>
            <a:r>
              <a:rPr lang="en-US" sz="2199">
                <a:solidFill>
                  <a:srgbClr val="368CD1"/>
                </a:solidFill>
                <a:latin typeface="Poppins"/>
                <a:ea typeface="Poppins"/>
                <a:cs typeface="Poppins"/>
                <a:sym typeface="Poppins"/>
              </a:rPr>
              <a:t>Kolom bulan &amp; inflasi “makanan” diambil secara otomatis.</a:t>
            </a:r>
          </a:p>
          <a:p>
            <a:pPr algn="just" marL="474979" indent="-237490" lvl="1">
              <a:lnSpc>
                <a:spcPts val="2221"/>
              </a:lnSpc>
              <a:buFont typeface="Arial"/>
              <a:buChar char="•"/>
            </a:pPr>
            <a:r>
              <a:rPr lang="en-US" sz="2199">
                <a:solidFill>
                  <a:srgbClr val="368CD1"/>
                </a:solidFill>
                <a:latin typeface="Poppins"/>
                <a:ea typeface="Poppins"/>
                <a:cs typeface="Poppins"/>
                <a:sym typeface="Poppins"/>
              </a:rPr>
              <a:t>Hanya bulan valid (Jan–Des) dipertahankan; baris kosong dibuang.</a:t>
            </a:r>
          </a:p>
          <a:p>
            <a:pPr algn="just" marL="474979" indent="-237490" lvl="1">
              <a:lnSpc>
                <a:spcPts val="2221"/>
              </a:lnSpc>
              <a:buFont typeface="Arial"/>
              <a:buChar char="•"/>
            </a:pPr>
            <a:r>
              <a:rPr lang="en-US" sz="2199">
                <a:solidFill>
                  <a:srgbClr val="368CD1"/>
                </a:solidFill>
                <a:latin typeface="Poppins"/>
                <a:ea typeface="Poppins"/>
                <a:cs typeface="Poppins"/>
                <a:sym typeface="Poppins"/>
              </a:rPr>
              <a:t>Nilai inflasi dibersihkan &amp; dikonversi ke numerik.</a:t>
            </a:r>
          </a:p>
          <a:p>
            <a:pPr algn="just" marL="474979" indent="-237490" lvl="1">
              <a:lnSpc>
                <a:spcPts val="2221"/>
              </a:lnSpc>
              <a:buFont typeface="Arial"/>
              <a:buChar char="•"/>
            </a:pPr>
            <a:r>
              <a:rPr lang="en-US" sz="2199">
                <a:solidFill>
                  <a:srgbClr val="368CD1"/>
                </a:solidFill>
                <a:latin typeface="Poppins"/>
                <a:ea typeface="Poppins"/>
                <a:cs typeface="Poppins"/>
                <a:sym typeface="Poppins"/>
              </a:rPr>
              <a:t>Semu</a:t>
            </a:r>
            <a:r>
              <a:rPr lang="en-US" sz="2199">
                <a:solidFill>
                  <a:srgbClr val="368CD1"/>
                </a:solidFill>
                <a:latin typeface="Poppins"/>
                <a:ea typeface="Poppins"/>
                <a:cs typeface="Poppins"/>
                <a:sym typeface="Poppins"/>
              </a:rPr>
              <a:t>a provinsi distandarkan menjadi Provinsi – Bulan – Inflasi lalu digabung.</a:t>
            </a:r>
          </a:p>
          <a:p>
            <a:pPr algn="just">
              <a:lnSpc>
                <a:spcPts val="2423"/>
              </a:lnSpc>
            </a:pPr>
          </a:p>
        </p:txBody>
      </p:sp>
      <p:sp>
        <p:nvSpPr>
          <p:cNvPr name="TextBox 14" id="14"/>
          <p:cNvSpPr txBox="true"/>
          <p:nvPr/>
        </p:nvSpPr>
        <p:spPr>
          <a:xfrm rot="0">
            <a:off x="9542846" y="6458822"/>
            <a:ext cx="8335303" cy="2222373"/>
          </a:xfrm>
          <a:prstGeom prst="rect">
            <a:avLst/>
          </a:prstGeom>
        </p:spPr>
        <p:txBody>
          <a:bodyPr anchor="t" rtlCol="false" tIns="0" lIns="0" bIns="0" rIns="0">
            <a:spAutoFit/>
          </a:bodyPr>
          <a:lstStyle/>
          <a:p>
            <a:pPr algn="just">
              <a:lnSpc>
                <a:spcPts val="2424"/>
              </a:lnSpc>
            </a:pPr>
            <a:r>
              <a:rPr lang="en-US" sz="2400" b="true">
                <a:solidFill>
                  <a:srgbClr val="368CD1"/>
                </a:solidFill>
                <a:latin typeface="Poppins Bold"/>
                <a:ea typeface="Poppins Bold"/>
                <a:cs typeface="Poppins Bold"/>
                <a:sym typeface="Poppins Bold"/>
              </a:rPr>
              <a:t>Output Program</a:t>
            </a:r>
          </a:p>
          <a:p>
            <a:pPr algn="just">
              <a:lnSpc>
                <a:spcPts val="2222"/>
              </a:lnSpc>
            </a:pPr>
          </a:p>
          <a:p>
            <a:pPr algn="just" marL="474983" indent="-237491" lvl="1">
              <a:lnSpc>
                <a:spcPts val="2222"/>
              </a:lnSpc>
              <a:buFont typeface="Arial"/>
              <a:buChar char="•"/>
            </a:pPr>
            <a:r>
              <a:rPr lang="en-US" sz="2200">
                <a:solidFill>
                  <a:srgbClr val="368CD1"/>
                </a:solidFill>
                <a:latin typeface="Poppins"/>
                <a:ea typeface="Poppins"/>
                <a:cs typeface="Poppins"/>
                <a:sym typeface="Poppins"/>
              </a:rPr>
              <a:t>4 file CSV berhasil diproses (Banten, DI Yogyakarta, Jawa Barat, Jawa Timur).</a:t>
            </a:r>
          </a:p>
          <a:p>
            <a:pPr algn="just" marL="474983" indent="-237491" lvl="1">
              <a:lnSpc>
                <a:spcPts val="2222"/>
              </a:lnSpc>
              <a:buFont typeface="Arial"/>
              <a:buChar char="•"/>
            </a:pPr>
            <a:r>
              <a:rPr lang="en-US" sz="2200">
                <a:solidFill>
                  <a:srgbClr val="368CD1"/>
                </a:solidFill>
                <a:latin typeface="Poppins"/>
                <a:ea typeface="Poppins"/>
                <a:cs typeface="Poppins"/>
                <a:sym typeface="Poppins"/>
              </a:rPr>
              <a:t>File gabungan berhasil dibuat: inflasi_subkelompok_makanan_4provinsi.csv.</a:t>
            </a:r>
          </a:p>
          <a:p>
            <a:pPr algn="just" marL="474983" indent="-237491" lvl="1">
              <a:lnSpc>
                <a:spcPts val="2222"/>
              </a:lnSpc>
              <a:buFont typeface="Arial"/>
              <a:buChar char="•"/>
            </a:pPr>
            <a:r>
              <a:rPr lang="en-US" sz="2200">
                <a:solidFill>
                  <a:srgbClr val="368CD1"/>
                </a:solidFill>
                <a:latin typeface="Poppins"/>
                <a:ea typeface="Poppins"/>
                <a:cs typeface="Poppins"/>
                <a:sym typeface="Poppins"/>
              </a:rPr>
              <a:t>Preview menunjukkan data sudah bersih dan konsisten.</a:t>
            </a:r>
          </a:p>
          <a:p>
            <a:pPr algn="just">
              <a:lnSpc>
                <a:spcPts val="1818"/>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987214" y="-5383146"/>
            <a:ext cx="13145186" cy="11209259"/>
          </a:xfrm>
          <a:custGeom>
            <a:avLst/>
            <a:gdLst/>
            <a:ahLst/>
            <a:cxnLst/>
            <a:rect r="r" b="b" t="t" l="l"/>
            <a:pathLst>
              <a:path h="11209259" w="13145186">
                <a:moveTo>
                  <a:pt x="0" y="0"/>
                </a:moveTo>
                <a:lnTo>
                  <a:pt x="13145186" y="0"/>
                </a:lnTo>
                <a:lnTo>
                  <a:pt x="13145186" y="11209259"/>
                </a:lnTo>
                <a:lnTo>
                  <a:pt x="0" y="11209259"/>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689186" y="221484"/>
            <a:ext cx="2167604" cy="2378715"/>
          </a:xfrm>
          <a:custGeom>
            <a:avLst/>
            <a:gdLst/>
            <a:ahLst/>
            <a:cxnLst/>
            <a:rect r="r" b="b" t="t" l="l"/>
            <a:pathLst>
              <a:path h="2378715" w="2167604">
                <a:moveTo>
                  <a:pt x="0" y="0"/>
                </a:moveTo>
                <a:lnTo>
                  <a:pt x="2167604" y="0"/>
                </a:lnTo>
                <a:lnTo>
                  <a:pt x="2167604" y="2378714"/>
                </a:lnTo>
                <a:lnTo>
                  <a:pt x="0" y="2378714"/>
                </a:lnTo>
                <a:lnTo>
                  <a:pt x="0" y="0"/>
                </a:lnTo>
                <a:close/>
              </a:path>
            </a:pathLst>
          </a:custGeom>
          <a:blipFill>
            <a:blip r:embed="rId5"/>
            <a:stretch>
              <a:fillRect l="0" t="0" r="0" b="0"/>
            </a:stretch>
          </a:blipFill>
        </p:spPr>
      </p:sp>
      <p:sp>
        <p:nvSpPr>
          <p:cNvPr name="Freeform 8" id="8"/>
          <p:cNvSpPr/>
          <p:nvPr/>
        </p:nvSpPr>
        <p:spPr>
          <a:xfrm flipH="false" flipV="false" rot="0">
            <a:off x="3066686" y="1004470"/>
            <a:ext cx="487499" cy="450271"/>
          </a:xfrm>
          <a:custGeom>
            <a:avLst/>
            <a:gdLst/>
            <a:ahLst/>
            <a:cxnLst/>
            <a:rect r="r" b="b" t="t" l="l"/>
            <a:pathLst>
              <a:path h="450271" w="487499">
                <a:moveTo>
                  <a:pt x="0" y="0"/>
                </a:moveTo>
                <a:lnTo>
                  <a:pt x="487499" y="0"/>
                </a:lnTo>
                <a:lnTo>
                  <a:pt x="487499" y="450272"/>
                </a:lnTo>
                <a:lnTo>
                  <a:pt x="0" y="4502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150903" y="1746241"/>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369174" y="2699092"/>
            <a:ext cx="16890126" cy="3233470"/>
          </a:xfrm>
          <a:custGeom>
            <a:avLst/>
            <a:gdLst/>
            <a:ahLst/>
            <a:cxnLst/>
            <a:rect r="r" b="b" t="t" l="l"/>
            <a:pathLst>
              <a:path h="3233470" w="16890126">
                <a:moveTo>
                  <a:pt x="0" y="0"/>
                </a:moveTo>
                <a:lnTo>
                  <a:pt x="16890126" y="0"/>
                </a:lnTo>
                <a:lnTo>
                  <a:pt x="16890126" y="3233470"/>
                </a:lnTo>
                <a:lnTo>
                  <a:pt x="0" y="3233470"/>
                </a:lnTo>
                <a:lnTo>
                  <a:pt x="0" y="0"/>
                </a:lnTo>
                <a:close/>
              </a:path>
            </a:pathLst>
          </a:custGeom>
          <a:blipFill>
            <a:blip r:embed="rId10"/>
            <a:stretch>
              <a:fillRect l="0" t="0" r="0" b="0"/>
            </a:stretch>
          </a:blipFill>
        </p:spPr>
      </p:sp>
      <p:sp>
        <p:nvSpPr>
          <p:cNvPr name="TextBox 11" id="11"/>
          <p:cNvSpPr txBox="true"/>
          <p:nvPr/>
        </p:nvSpPr>
        <p:spPr>
          <a:xfrm rot="0">
            <a:off x="3554185" y="764151"/>
            <a:ext cx="7697580"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Data Cleaning</a:t>
            </a:r>
          </a:p>
        </p:txBody>
      </p:sp>
      <p:sp>
        <p:nvSpPr>
          <p:cNvPr name="TextBox 12" id="12"/>
          <p:cNvSpPr txBox="true"/>
          <p:nvPr/>
        </p:nvSpPr>
        <p:spPr>
          <a:xfrm rot="0">
            <a:off x="3587939" y="1774816"/>
            <a:ext cx="6596846" cy="805815"/>
          </a:xfrm>
          <a:prstGeom prst="rect">
            <a:avLst/>
          </a:prstGeom>
        </p:spPr>
        <p:txBody>
          <a:bodyPr anchor="t" rtlCol="false" tIns="0" lIns="0" bIns="0" rIns="0">
            <a:spAutoFit/>
          </a:bodyPr>
          <a:lstStyle/>
          <a:p>
            <a:pPr algn="l">
              <a:lnSpc>
                <a:spcPts val="3030"/>
              </a:lnSpc>
            </a:pPr>
            <a:r>
              <a:rPr lang="en-US" sz="3000" b="true">
                <a:solidFill>
                  <a:srgbClr val="368CD1"/>
                </a:solidFill>
                <a:latin typeface="Poppins Bold"/>
                <a:ea typeface="Poppins Bold"/>
                <a:cs typeface="Poppins Bold"/>
                <a:sym typeface="Poppins Bold"/>
              </a:rPr>
              <a:t>Data Harga Komoditas (PIHPS)</a:t>
            </a:r>
          </a:p>
          <a:p>
            <a:pPr algn="l">
              <a:lnSpc>
                <a:spcPts val="3030"/>
              </a:lnSpc>
            </a:pPr>
          </a:p>
        </p:txBody>
      </p:sp>
      <p:sp>
        <p:nvSpPr>
          <p:cNvPr name="TextBox 13" id="13"/>
          <p:cNvSpPr txBox="true"/>
          <p:nvPr/>
        </p:nvSpPr>
        <p:spPr>
          <a:xfrm rot="0">
            <a:off x="369174" y="6050506"/>
            <a:ext cx="8335303" cy="3132074"/>
          </a:xfrm>
          <a:prstGeom prst="rect">
            <a:avLst/>
          </a:prstGeom>
        </p:spPr>
        <p:txBody>
          <a:bodyPr anchor="t" rtlCol="false" tIns="0" lIns="0" bIns="0" rIns="0">
            <a:spAutoFit/>
          </a:bodyPr>
          <a:lstStyle/>
          <a:p>
            <a:pPr algn="just">
              <a:lnSpc>
                <a:spcPts val="2423"/>
              </a:lnSpc>
            </a:pPr>
            <a:r>
              <a:rPr lang="en-US" sz="2399" b="true">
                <a:solidFill>
                  <a:srgbClr val="368CD1"/>
                </a:solidFill>
                <a:latin typeface="Poppins Bold"/>
                <a:ea typeface="Poppins Bold"/>
                <a:cs typeface="Poppins Bold"/>
                <a:sym typeface="Poppins Bold"/>
              </a:rPr>
              <a:t>Proses Cleaning Data</a:t>
            </a:r>
          </a:p>
          <a:p>
            <a:pPr algn="just">
              <a:lnSpc>
                <a:spcPts val="2423"/>
              </a:lnSpc>
            </a:pPr>
          </a:p>
          <a:p>
            <a:pPr algn="just" marL="474979" indent="-237490" lvl="1">
              <a:lnSpc>
                <a:spcPts val="2221"/>
              </a:lnSpc>
              <a:buFont typeface="Arial"/>
              <a:buChar char="•"/>
            </a:pPr>
            <a:r>
              <a:rPr lang="en-US" sz="2199">
                <a:solidFill>
                  <a:srgbClr val="368CD1"/>
                </a:solidFill>
                <a:latin typeface="Poppins"/>
                <a:ea typeface="Poppins"/>
                <a:cs typeface="Poppins"/>
                <a:sym typeface="Poppins"/>
              </a:rPr>
              <a:t>Bersihk</a:t>
            </a:r>
            <a:r>
              <a:rPr lang="en-US" sz="2199">
                <a:solidFill>
                  <a:srgbClr val="368CD1"/>
                </a:solidFill>
                <a:latin typeface="Poppins"/>
                <a:ea typeface="Poppins"/>
                <a:cs typeface="Poppins"/>
                <a:sym typeface="Poppins"/>
              </a:rPr>
              <a:t>an file hapus kolom “No”, hilangkan baris “Semua Provinsi”, dan pilih provinsi Pulau Jawa.</a:t>
            </a:r>
          </a:p>
          <a:p>
            <a:pPr algn="just" marL="474979" indent="-237490" lvl="1">
              <a:lnSpc>
                <a:spcPts val="2221"/>
              </a:lnSpc>
              <a:buFont typeface="Arial"/>
              <a:buChar char="•"/>
            </a:pPr>
            <a:r>
              <a:rPr lang="en-US" sz="2199">
                <a:solidFill>
                  <a:srgbClr val="368CD1"/>
                </a:solidFill>
                <a:latin typeface="Poppins"/>
                <a:ea typeface="Poppins"/>
                <a:cs typeface="Poppins"/>
                <a:sym typeface="Poppins"/>
              </a:rPr>
              <a:t>Ubah struktur data menjadi format wide → long (Provinsi–Tanggal–Harga) dan buat kolom Bulan.</a:t>
            </a:r>
          </a:p>
          <a:p>
            <a:pPr algn="just" marL="474979" indent="-237490" lvl="1">
              <a:lnSpc>
                <a:spcPts val="2221"/>
              </a:lnSpc>
              <a:buFont typeface="Arial"/>
              <a:buChar char="•"/>
            </a:pPr>
            <a:r>
              <a:rPr lang="en-US" sz="2199">
                <a:solidFill>
                  <a:srgbClr val="368CD1"/>
                </a:solidFill>
                <a:latin typeface="Poppins"/>
                <a:ea typeface="Poppins"/>
                <a:cs typeface="Poppins"/>
                <a:sym typeface="Poppins"/>
              </a:rPr>
              <a:t>St</a:t>
            </a:r>
            <a:r>
              <a:rPr lang="en-US" sz="2199">
                <a:solidFill>
                  <a:srgbClr val="368CD1"/>
                </a:solidFill>
                <a:latin typeface="Poppins"/>
                <a:ea typeface="Poppins"/>
                <a:cs typeface="Poppins"/>
                <a:sym typeface="Poppins"/>
              </a:rPr>
              <a:t>andarisasi harga hilangkan spasi &amp; karakter non-angka, lalu konversi menjadi nilai numerik.</a:t>
            </a:r>
          </a:p>
          <a:p>
            <a:pPr algn="just" marL="474979" indent="-237490" lvl="1">
              <a:lnSpc>
                <a:spcPts val="2221"/>
              </a:lnSpc>
              <a:buFont typeface="Arial"/>
              <a:buChar char="•"/>
            </a:pPr>
            <a:r>
              <a:rPr lang="en-US" sz="2199">
                <a:solidFill>
                  <a:srgbClr val="368CD1"/>
                </a:solidFill>
                <a:latin typeface="Poppins"/>
                <a:ea typeface="Poppins"/>
                <a:cs typeface="Poppins"/>
                <a:sym typeface="Poppins"/>
              </a:rPr>
              <a:t>Gabungkan semua komoditas set urutan bulan Januari–Desember, urutkan data, dan simpan hasil bersih.</a:t>
            </a:r>
          </a:p>
        </p:txBody>
      </p:sp>
      <p:sp>
        <p:nvSpPr>
          <p:cNvPr name="TextBox 14" id="14"/>
          <p:cNvSpPr txBox="true"/>
          <p:nvPr/>
        </p:nvSpPr>
        <p:spPr>
          <a:xfrm rot="0">
            <a:off x="9461729" y="6050506"/>
            <a:ext cx="8335303" cy="3051048"/>
          </a:xfrm>
          <a:prstGeom prst="rect">
            <a:avLst/>
          </a:prstGeom>
        </p:spPr>
        <p:txBody>
          <a:bodyPr anchor="t" rtlCol="false" tIns="0" lIns="0" bIns="0" rIns="0">
            <a:spAutoFit/>
          </a:bodyPr>
          <a:lstStyle/>
          <a:p>
            <a:pPr algn="just">
              <a:lnSpc>
                <a:spcPts val="2424"/>
              </a:lnSpc>
            </a:pPr>
            <a:r>
              <a:rPr lang="en-US" sz="2400" b="true">
                <a:solidFill>
                  <a:srgbClr val="368CD1"/>
                </a:solidFill>
                <a:latin typeface="Poppins Bold"/>
                <a:ea typeface="Poppins Bold"/>
                <a:cs typeface="Poppins Bold"/>
                <a:sym typeface="Poppins Bold"/>
              </a:rPr>
              <a:t>Output Program</a:t>
            </a:r>
          </a:p>
          <a:p>
            <a:pPr algn="just">
              <a:lnSpc>
                <a:spcPts val="2222"/>
              </a:lnSpc>
            </a:pPr>
          </a:p>
          <a:p>
            <a:pPr algn="just" marL="474983" indent="-237491" lvl="1">
              <a:lnSpc>
                <a:spcPts val="2222"/>
              </a:lnSpc>
              <a:buFont typeface="Arial"/>
              <a:buChar char="•"/>
            </a:pPr>
            <a:r>
              <a:rPr lang="en-US" sz="2200">
                <a:solidFill>
                  <a:srgbClr val="368CD1"/>
                </a:solidFill>
                <a:latin typeface="Poppins"/>
                <a:ea typeface="Poppins"/>
                <a:cs typeface="Poppins"/>
                <a:sym typeface="Poppins"/>
              </a:rPr>
              <a:t>Semua komoditas beras, daging ayam, daging sapi, telur ayam, bawang merah, bawang putih, cabai merah, cabai rawit, gula pasir dan minyak goreng) menampilkan pesan “selesai dibersihkan”.</a:t>
            </a:r>
          </a:p>
          <a:p>
            <a:pPr algn="just" marL="474983" indent="-237491" lvl="1">
              <a:lnSpc>
                <a:spcPts val="2222"/>
              </a:lnSpc>
              <a:buFont typeface="Arial"/>
              <a:buChar char="•"/>
            </a:pPr>
            <a:r>
              <a:rPr lang="en-US" sz="2200">
                <a:solidFill>
                  <a:srgbClr val="368CD1"/>
                </a:solidFill>
                <a:latin typeface="Poppins"/>
                <a:ea typeface="Poppins"/>
                <a:cs typeface="Poppins"/>
                <a:sym typeface="Poppins"/>
              </a:rPr>
              <a:t>Pesan “Semua data selesai dibersihkan!” menandakan seluruh proses berhasil.</a:t>
            </a:r>
          </a:p>
          <a:p>
            <a:pPr algn="just" marL="474983" indent="-237491" lvl="1">
              <a:lnSpc>
                <a:spcPts val="2222"/>
              </a:lnSpc>
              <a:buFont typeface="Arial"/>
              <a:buChar char="•"/>
            </a:pPr>
            <a:r>
              <a:rPr lang="en-US" sz="2200">
                <a:solidFill>
                  <a:srgbClr val="368CD1"/>
                </a:solidFill>
                <a:latin typeface="Poppins"/>
                <a:ea typeface="Poppins"/>
                <a:cs typeface="Poppins"/>
                <a:sym typeface="Poppins"/>
              </a:rPr>
              <a:t>File final disimpan sebagai: Data_Harga_Komoditas_Bersih.csv.</a:t>
            </a:r>
          </a:p>
          <a:p>
            <a:pPr algn="just">
              <a:lnSpc>
                <a:spcPts val="1818"/>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883821"/>
            <a:ext cx="19527875" cy="2705596"/>
            <a:chOff x="0" y="0"/>
            <a:chExt cx="5143144" cy="712585"/>
          </a:xfrm>
        </p:grpSpPr>
        <p:sp>
          <p:nvSpPr>
            <p:cNvPr name="Freeform 3" id="3"/>
            <p:cNvSpPr/>
            <p:nvPr/>
          </p:nvSpPr>
          <p:spPr>
            <a:xfrm flipH="false" flipV="false" rot="0">
              <a:off x="0" y="0"/>
              <a:ext cx="5143144" cy="712585"/>
            </a:xfrm>
            <a:custGeom>
              <a:avLst/>
              <a:gdLst/>
              <a:ahLst/>
              <a:cxnLst/>
              <a:rect r="r" b="b" t="t" l="l"/>
              <a:pathLst>
                <a:path h="712585" w="5143144">
                  <a:moveTo>
                    <a:pt x="0" y="0"/>
                  </a:moveTo>
                  <a:lnTo>
                    <a:pt x="5143144" y="0"/>
                  </a:lnTo>
                  <a:lnTo>
                    <a:pt x="5143144" y="712585"/>
                  </a:lnTo>
                  <a:lnTo>
                    <a:pt x="0" y="712585"/>
                  </a:lnTo>
                  <a:close/>
                </a:path>
              </a:pathLst>
            </a:custGeom>
            <a:solidFill>
              <a:srgbClr val="16456A"/>
            </a:solidFill>
          </p:spPr>
        </p:sp>
        <p:sp>
          <p:nvSpPr>
            <p:cNvPr name="TextBox 4" id="4"/>
            <p:cNvSpPr txBox="true"/>
            <p:nvPr/>
          </p:nvSpPr>
          <p:spPr>
            <a:xfrm>
              <a:off x="0" y="19050"/>
              <a:ext cx="5143144" cy="693535"/>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6572593" y="-3521712"/>
            <a:ext cx="13145186" cy="11209259"/>
          </a:xfrm>
          <a:custGeom>
            <a:avLst/>
            <a:gdLst/>
            <a:ahLst/>
            <a:cxnLst/>
            <a:rect r="r" b="b" t="t" l="l"/>
            <a:pathLst>
              <a:path h="11209259" w="13145186">
                <a:moveTo>
                  <a:pt x="0" y="0"/>
                </a:moveTo>
                <a:lnTo>
                  <a:pt x="13145186" y="0"/>
                </a:lnTo>
                <a:lnTo>
                  <a:pt x="13145186" y="11209259"/>
                </a:lnTo>
                <a:lnTo>
                  <a:pt x="0" y="11209259"/>
                </a:lnTo>
                <a:lnTo>
                  <a:pt x="0" y="0"/>
                </a:lnTo>
                <a:close/>
              </a:path>
            </a:pathLst>
          </a:custGeom>
          <a:blipFill>
            <a:blip r:embed="rId2">
              <a:alphaModFix amt="25000"/>
            </a:blip>
            <a:stretch>
              <a:fillRect l="0" t="0" r="0" b="0"/>
            </a:stretch>
          </a:blipFill>
        </p:spPr>
      </p:sp>
      <p:sp>
        <p:nvSpPr>
          <p:cNvPr name="Freeform 6" id="6"/>
          <p:cNvSpPr/>
          <p:nvPr/>
        </p:nvSpPr>
        <p:spPr>
          <a:xfrm flipH="false" flipV="false" rot="0">
            <a:off x="13954249" y="-4887663"/>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3">
              <a:alphaModFix amt="48000"/>
            </a:blip>
            <a:stretch>
              <a:fillRect l="0" t="-969" r="0" b="-969"/>
            </a:stretch>
          </a:blipFill>
        </p:spPr>
      </p:sp>
      <p:sp>
        <p:nvSpPr>
          <p:cNvPr name="Freeform 7" id="7"/>
          <p:cNvSpPr/>
          <p:nvPr/>
        </p:nvSpPr>
        <p:spPr>
          <a:xfrm flipH="false" flipV="false" rot="0">
            <a:off x="2468855" y="6977138"/>
            <a:ext cx="12099383" cy="2782858"/>
          </a:xfrm>
          <a:custGeom>
            <a:avLst/>
            <a:gdLst/>
            <a:ahLst/>
            <a:cxnLst/>
            <a:rect r="r" b="b" t="t" l="l"/>
            <a:pathLst>
              <a:path h="2782858" w="12099383">
                <a:moveTo>
                  <a:pt x="0" y="0"/>
                </a:moveTo>
                <a:lnTo>
                  <a:pt x="12099383" y="0"/>
                </a:lnTo>
                <a:lnTo>
                  <a:pt x="12099383" y="2782858"/>
                </a:lnTo>
                <a:lnTo>
                  <a:pt x="0" y="2782858"/>
                </a:lnTo>
                <a:lnTo>
                  <a:pt x="0" y="0"/>
                </a:lnTo>
                <a:close/>
              </a:path>
            </a:pathLst>
          </a:custGeom>
          <a:blipFill>
            <a:blip r:embed="rId4"/>
            <a:stretch>
              <a:fillRect l="0" t="0" r="0" b="0"/>
            </a:stretch>
          </a:blipFill>
        </p:spPr>
      </p:sp>
      <p:sp>
        <p:nvSpPr>
          <p:cNvPr name="Freeform 8" id="8"/>
          <p:cNvSpPr/>
          <p:nvPr/>
        </p:nvSpPr>
        <p:spPr>
          <a:xfrm flipH="false" flipV="false" rot="0">
            <a:off x="1425309" y="3944905"/>
            <a:ext cx="10314016" cy="2908182"/>
          </a:xfrm>
          <a:custGeom>
            <a:avLst/>
            <a:gdLst/>
            <a:ahLst/>
            <a:cxnLst/>
            <a:rect r="r" b="b" t="t" l="l"/>
            <a:pathLst>
              <a:path h="2908182" w="10314016">
                <a:moveTo>
                  <a:pt x="0" y="0"/>
                </a:moveTo>
                <a:lnTo>
                  <a:pt x="10314015" y="0"/>
                </a:lnTo>
                <a:lnTo>
                  <a:pt x="10314015" y="2908182"/>
                </a:lnTo>
                <a:lnTo>
                  <a:pt x="0" y="2908182"/>
                </a:lnTo>
                <a:lnTo>
                  <a:pt x="0" y="0"/>
                </a:lnTo>
                <a:close/>
              </a:path>
            </a:pathLst>
          </a:custGeom>
          <a:blipFill>
            <a:blip r:embed="rId5"/>
            <a:stretch>
              <a:fillRect l="0" t="-4369" r="0" b="0"/>
            </a:stretch>
          </a:blipFill>
        </p:spPr>
      </p:sp>
      <p:sp>
        <p:nvSpPr>
          <p:cNvPr name="Freeform 9" id="9"/>
          <p:cNvSpPr/>
          <p:nvPr/>
        </p:nvSpPr>
        <p:spPr>
          <a:xfrm flipH="false" flipV="false" rot="0">
            <a:off x="403247" y="353045"/>
            <a:ext cx="1440155" cy="911226"/>
          </a:xfrm>
          <a:custGeom>
            <a:avLst/>
            <a:gdLst/>
            <a:ahLst/>
            <a:cxnLst/>
            <a:rect r="r" b="b" t="t" l="l"/>
            <a:pathLst>
              <a:path h="911226" w="1440155">
                <a:moveTo>
                  <a:pt x="0" y="0"/>
                </a:moveTo>
                <a:lnTo>
                  <a:pt x="1440155" y="0"/>
                </a:lnTo>
                <a:lnTo>
                  <a:pt x="1440155" y="911226"/>
                </a:lnTo>
                <a:lnTo>
                  <a:pt x="0" y="9112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2323886" y="3944905"/>
            <a:ext cx="3838009" cy="2908182"/>
          </a:xfrm>
          <a:custGeom>
            <a:avLst/>
            <a:gdLst/>
            <a:ahLst/>
            <a:cxnLst/>
            <a:rect r="r" b="b" t="t" l="l"/>
            <a:pathLst>
              <a:path h="2908182" w="3838009">
                <a:moveTo>
                  <a:pt x="0" y="0"/>
                </a:moveTo>
                <a:lnTo>
                  <a:pt x="3838009" y="0"/>
                </a:lnTo>
                <a:lnTo>
                  <a:pt x="3838009" y="2908182"/>
                </a:lnTo>
                <a:lnTo>
                  <a:pt x="0" y="2908182"/>
                </a:lnTo>
                <a:lnTo>
                  <a:pt x="0" y="0"/>
                </a:lnTo>
                <a:close/>
              </a:path>
            </a:pathLst>
          </a:custGeom>
          <a:blipFill>
            <a:blip r:embed="rId8"/>
            <a:stretch>
              <a:fillRect l="0" t="0" r="0" b="0"/>
            </a:stretch>
          </a:blipFill>
        </p:spPr>
      </p:sp>
      <p:sp>
        <p:nvSpPr>
          <p:cNvPr name="TextBox 11" id="11"/>
          <p:cNvSpPr txBox="true"/>
          <p:nvPr/>
        </p:nvSpPr>
        <p:spPr>
          <a:xfrm rot="0">
            <a:off x="2172873" y="451367"/>
            <a:ext cx="6345674" cy="762208"/>
          </a:xfrm>
          <a:prstGeom prst="rect">
            <a:avLst/>
          </a:prstGeom>
        </p:spPr>
        <p:txBody>
          <a:bodyPr anchor="t" rtlCol="false" tIns="0" lIns="0" bIns="0" rIns="0">
            <a:spAutoFit/>
          </a:bodyPr>
          <a:lstStyle/>
          <a:p>
            <a:pPr algn="l">
              <a:lnSpc>
                <a:spcPts val="5379"/>
              </a:lnSpc>
            </a:pPr>
            <a:r>
              <a:rPr lang="en-US" sz="5326" b="true">
                <a:solidFill>
                  <a:srgbClr val="16456A"/>
                </a:solidFill>
                <a:latin typeface="Poppins Bold"/>
                <a:ea typeface="Poppins Bold"/>
                <a:cs typeface="Poppins Bold"/>
                <a:sym typeface="Poppins Bold"/>
              </a:rPr>
              <a:t>Eksplorasi Data</a:t>
            </a:r>
          </a:p>
        </p:txBody>
      </p:sp>
      <p:sp>
        <p:nvSpPr>
          <p:cNvPr name="TextBox 12" id="12"/>
          <p:cNvSpPr txBox="true"/>
          <p:nvPr/>
        </p:nvSpPr>
        <p:spPr>
          <a:xfrm rot="0">
            <a:off x="1123325" y="1378905"/>
            <a:ext cx="12874757" cy="1963032"/>
          </a:xfrm>
          <a:prstGeom prst="rect">
            <a:avLst/>
          </a:prstGeom>
        </p:spPr>
        <p:txBody>
          <a:bodyPr anchor="t" rtlCol="false" tIns="0" lIns="0" bIns="0" rIns="0">
            <a:spAutoFit/>
          </a:bodyPr>
          <a:lstStyle/>
          <a:p>
            <a:pPr algn="l" marL="592349" indent="-296175" lvl="1">
              <a:lnSpc>
                <a:spcPts val="3841"/>
              </a:lnSpc>
              <a:buAutoNum type="arabicPeriod" startAt="1"/>
            </a:pPr>
            <a:r>
              <a:rPr lang="en-US" sz="2743">
                <a:solidFill>
                  <a:srgbClr val="050056"/>
                </a:solidFill>
                <a:latin typeface="Poppins"/>
                <a:ea typeface="Poppins"/>
                <a:cs typeface="Poppins"/>
                <a:sym typeface="Poppins"/>
              </a:rPr>
              <a:t>Pemeriksaan Struktur dan Dimensi Data</a:t>
            </a:r>
          </a:p>
          <a:p>
            <a:pPr algn="l" marL="592349" indent="-296175" lvl="1">
              <a:lnSpc>
                <a:spcPts val="3841"/>
              </a:lnSpc>
              <a:buAutoNum type="arabicPeriod" startAt="1"/>
            </a:pPr>
            <a:r>
              <a:rPr lang="en-US" sz="2743">
                <a:solidFill>
                  <a:srgbClr val="050056"/>
                </a:solidFill>
                <a:latin typeface="Poppins"/>
                <a:ea typeface="Poppins"/>
                <a:cs typeface="Poppins"/>
                <a:sym typeface="Poppins"/>
              </a:rPr>
              <a:t>Deteksi missing value dan data duplikasi</a:t>
            </a:r>
          </a:p>
          <a:p>
            <a:pPr algn="l" marL="592349" indent="-296175" lvl="1">
              <a:lnSpc>
                <a:spcPts val="3841"/>
              </a:lnSpc>
              <a:buAutoNum type="arabicPeriod" startAt="1"/>
            </a:pPr>
            <a:r>
              <a:rPr lang="en-US" sz="2743">
                <a:solidFill>
                  <a:srgbClr val="050056"/>
                </a:solidFill>
                <a:latin typeface="Poppins"/>
                <a:ea typeface="Poppins"/>
                <a:cs typeface="Poppins"/>
                <a:sym typeface="Poppins"/>
              </a:rPr>
              <a:t>Deteksi outlier menggunakan metode Interquartile Range (IQR)</a:t>
            </a:r>
          </a:p>
          <a:p>
            <a:pPr algn="l" marL="592349" indent="-296175" lvl="1">
              <a:lnSpc>
                <a:spcPts val="3841"/>
              </a:lnSpc>
              <a:buAutoNum type="arabicPeriod" startAt="1"/>
            </a:pPr>
            <a:r>
              <a:rPr lang="en-US" sz="2743">
                <a:solidFill>
                  <a:srgbClr val="050056"/>
                </a:solidFill>
                <a:latin typeface="Poppins"/>
                <a:ea typeface="Poppins"/>
                <a:cs typeface="Poppins"/>
                <a:sym typeface="Poppins"/>
              </a:rPr>
              <a:t>Menghitung statistik deskriptif</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572593" y="-3521712"/>
            <a:ext cx="13145186" cy="11209259"/>
          </a:xfrm>
          <a:custGeom>
            <a:avLst/>
            <a:gdLst/>
            <a:ahLst/>
            <a:cxnLst/>
            <a:rect r="r" b="b" t="t" l="l"/>
            <a:pathLst>
              <a:path h="11209259" w="13145186">
                <a:moveTo>
                  <a:pt x="0" y="0"/>
                </a:moveTo>
                <a:lnTo>
                  <a:pt x="13145186" y="0"/>
                </a:lnTo>
                <a:lnTo>
                  <a:pt x="13145186" y="11209259"/>
                </a:lnTo>
                <a:lnTo>
                  <a:pt x="0" y="11209259"/>
                </a:lnTo>
                <a:lnTo>
                  <a:pt x="0" y="0"/>
                </a:lnTo>
                <a:close/>
              </a:path>
            </a:pathLst>
          </a:custGeom>
          <a:blipFill>
            <a:blip r:embed="rId4">
              <a:alphaModFix amt="25000"/>
            </a:blip>
            <a:stretch>
              <a:fillRect l="0" t="0" r="0" b="0"/>
            </a:stretch>
          </a:blipFill>
        </p:spPr>
      </p:sp>
      <p:sp>
        <p:nvSpPr>
          <p:cNvPr name="Freeform 7" id="7"/>
          <p:cNvSpPr/>
          <p:nvPr/>
        </p:nvSpPr>
        <p:spPr>
          <a:xfrm flipH="false" flipV="false" rot="0">
            <a:off x="13954249" y="-4887663"/>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5">
              <a:alphaModFix amt="48000"/>
            </a:blip>
            <a:stretch>
              <a:fillRect l="0" t="-969" r="0" b="-969"/>
            </a:stretch>
          </a:blipFill>
        </p:spPr>
      </p:sp>
      <p:sp>
        <p:nvSpPr>
          <p:cNvPr name="Freeform 8" id="8"/>
          <p:cNvSpPr/>
          <p:nvPr/>
        </p:nvSpPr>
        <p:spPr>
          <a:xfrm flipH="false" flipV="false" rot="0">
            <a:off x="403247" y="353045"/>
            <a:ext cx="1440155" cy="911226"/>
          </a:xfrm>
          <a:custGeom>
            <a:avLst/>
            <a:gdLst/>
            <a:ahLst/>
            <a:cxnLst/>
            <a:rect r="r" b="b" t="t" l="l"/>
            <a:pathLst>
              <a:path h="911226" w="1440155">
                <a:moveTo>
                  <a:pt x="0" y="0"/>
                </a:moveTo>
                <a:lnTo>
                  <a:pt x="1440155" y="0"/>
                </a:lnTo>
                <a:lnTo>
                  <a:pt x="1440155" y="911226"/>
                </a:lnTo>
                <a:lnTo>
                  <a:pt x="0" y="9112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627146" y="2829871"/>
            <a:ext cx="9437128" cy="5107845"/>
          </a:xfrm>
          <a:custGeom>
            <a:avLst/>
            <a:gdLst/>
            <a:ahLst/>
            <a:cxnLst/>
            <a:rect r="r" b="b" t="t" l="l"/>
            <a:pathLst>
              <a:path h="5107845" w="9437128">
                <a:moveTo>
                  <a:pt x="0" y="0"/>
                </a:moveTo>
                <a:lnTo>
                  <a:pt x="9437128" y="0"/>
                </a:lnTo>
                <a:lnTo>
                  <a:pt x="9437128" y="5107845"/>
                </a:lnTo>
                <a:lnTo>
                  <a:pt x="0" y="5107845"/>
                </a:lnTo>
                <a:lnTo>
                  <a:pt x="0" y="0"/>
                </a:lnTo>
                <a:close/>
              </a:path>
            </a:pathLst>
          </a:custGeom>
          <a:blipFill>
            <a:blip r:embed="rId8"/>
            <a:stretch>
              <a:fillRect l="0" t="0" r="0" b="0"/>
            </a:stretch>
          </a:blipFill>
        </p:spPr>
      </p:sp>
      <p:sp>
        <p:nvSpPr>
          <p:cNvPr name="Freeform 10" id="10"/>
          <p:cNvSpPr/>
          <p:nvPr/>
        </p:nvSpPr>
        <p:spPr>
          <a:xfrm flipH="false" flipV="false" rot="0">
            <a:off x="10728449" y="2723723"/>
            <a:ext cx="6451601" cy="5213993"/>
          </a:xfrm>
          <a:custGeom>
            <a:avLst/>
            <a:gdLst/>
            <a:ahLst/>
            <a:cxnLst/>
            <a:rect r="r" b="b" t="t" l="l"/>
            <a:pathLst>
              <a:path h="5213993" w="6451601">
                <a:moveTo>
                  <a:pt x="0" y="0"/>
                </a:moveTo>
                <a:lnTo>
                  <a:pt x="6451601" y="0"/>
                </a:lnTo>
                <a:lnTo>
                  <a:pt x="6451601" y="5213993"/>
                </a:lnTo>
                <a:lnTo>
                  <a:pt x="0" y="5213993"/>
                </a:lnTo>
                <a:lnTo>
                  <a:pt x="0" y="0"/>
                </a:lnTo>
                <a:close/>
              </a:path>
            </a:pathLst>
          </a:custGeom>
          <a:blipFill>
            <a:blip r:embed="rId9"/>
            <a:stretch>
              <a:fillRect l="0" t="0" r="0" b="0"/>
            </a:stretch>
          </a:blipFill>
        </p:spPr>
      </p:sp>
      <p:sp>
        <p:nvSpPr>
          <p:cNvPr name="TextBox 11" id="11"/>
          <p:cNvSpPr txBox="true"/>
          <p:nvPr/>
        </p:nvSpPr>
        <p:spPr>
          <a:xfrm rot="0">
            <a:off x="2172873" y="451367"/>
            <a:ext cx="6345674" cy="762208"/>
          </a:xfrm>
          <a:prstGeom prst="rect">
            <a:avLst/>
          </a:prstGeom>
        </p:spPr>
        <p:txBody>
          <a:bodyPr anchor="t" rtlCol="false" tIns="0" lIns="0" bIns="0" rIns="0">
            <a:spAutoFit/>
          </a:bodyPr>
          <a:lstStyle/>
          <a:p>
            <a:pPr algn="l">
              <a:lnSpc>
                <a:spcPts val="5379"/>
              </a:lnSpc>
            </a:pPr>
            <a:r>
              <a:rPr lang="en-US" sz="5326" b="true">
                <a:solidFill>
                  <a:srgbClr val="16456A"/>
                </a:solidFill>
                <a:latin typeface="Poppins Bold"/>
                <a:ea typeface="Poppins Bold"/>
                <a:cs typeface="Poppins Bold"/>
                <a:sym typeface="Poppins Bold"/>
              </a:rPr>
              <a:t>Eksplorasi Data</a:t>
            </a:r>
          </a:p>
        </p:txBody>
      </p:sp>
      <p:sp>
        <p:nvSpPr>
          <p:cNvPr name="TextBox 12" id="12"/>
          <p:cNvSpPr txBox="true"/>
          <p:nvPr/>
        </p:nvSpPr>
        <p:spPr>
          <a:xfrm rot="0">
            <a:off x="2172873" y="1417896"/>
            <a:ext cx="10466014" cy="373257"/>
          </a:xfrm>
          <a:prstGeom prst="rect">
            <a:avLst/>
          </a:prstGeom>
        </p:spPr>
        <p:txBody>
          <a:bodyPr anchor="t" rtlCol="false" tIns="0" lIns="0" bIns="0" rIns="0">
            <a:spAutoFit/>
          </a:bodyPr>
          <a:lstStyle/>
          <a:p>
            <a:pPr algn="l">
              <a:lnSpc>
                <a:spcPts val="2689"/>
              </a:lnSpc>
            </a:pPr>
            <a:r>
              <a:rPr lang="en-US" sz="2663" b="true">
                <a:solidFill>
                  <a:srgbClr val="16456A"/>
                </a:solidFill>
                <a:latin typeface="Poppins Bold"/>
                <a:ea typeface="Poppins Bold"/>
                <a:cs typeface="Poppins Bold"/>
                <a:sym typeface="Poppins Bold"/>
              </a:rPr>
              <a:t>Visualisasi Distribusi Data Curah Hujan dan Inflasi</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572593" y="-3521712"/>
            <a:ext cx="13145186" cy="11209259"/>
          </a:xfrm>
          <a:custGeom>
            <a:avLst/>
            <a:gdLst/>
            <a:ahLst/>
            <a:cxnLst/>
            <a:rect r="r" b="b" t="t" l="l"/>
            <a:pathLst>
              <a:path h="11209259" w="13145186">
                <a:moveTo>
                  <a:pt x="0" y="0"/>
                </a:moveTo>
                <a:lnTo>
                  <a:pt x="13145186" y="0"/>
                </a:lnTo>
                <a:lnTo>
                  <a:pt x="13145186" y="11209259"/>
                </a:lnTo>
                <a:lnTo>
                  <a:pt x="0" y="11209259"/>
                </a:lnTo>
                <a:lnTo>
                  <a:pt x="0" y="0"/>
                </a:lnTo>
                <a:close/>
              </a:path>
            </a:pathLst>
          </a:custGeom>
          <a:blipFill>
            <a:blip r:embed="rId4">
              <a:alphaModFix amt="25000"/>
            </a:blip>
            <a:stretch>
              <a:fillRect l="0" t="0" r="0" b="0"/>
            </a:stretch>
          </a:blipFill>
        </p:spPr>
      </p:sp>
      <p:sp>
        <p:nvSpPr>
          <p:cNvPr name="Freeform 7" id="7"/>
          <p:cNvSpPr/>
          <p:nvPr/>
        </p:nvSpPr>
        <p:spPr>
          <a:xfrm flipH="false" flipV="false" rot="0">
            <a:off x="13954249" y="-4887663"/>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5">
              <a:alphaModFix amt="48000"/>
            </a:blip>
            <a:stretch>
              <a:fillRect l="0" t="-969" r="0" b="-969"/>
            </a:stretch>
          </a:blipFill>
        </p:spPr>
      </p:sp>
      <p:sp>
        <p:nvSpPr>
          <p:cNvPr name="Freeform 8" id="8"/>
          <p:cNvSpPr/>
          <p:nvPr/>
        </p:nvSpPr>
        <p:spPr>
          <a:xfrm flipH="false" flipV="false" rot="0">
            <a:off x="403247" y="353045"/>
            <a:ext cx="1440155" cy="911226"/>
          </a:xfrm>
          <a:custGeom>
            <a:avLst/>
            <a:gdLst/>
            <a:ahLst/>
            <a:cxnLst/>
            <a:rect r="r" b="b" t="t" l="l"/>
            <a:pathLst>
              <a:path h="911226" w="1440155">
                <a:moveTo>
                  <a:pt x="0" y="0"/>
                </a:moveTo>
                <a:lnTo>
                  <a:pt x="1440155" y="0"/>
                </a:lnTo>
                <a:lnTo>
                  <a:pt x="1440155" y="911226"/>
                </a:lnTo>
                <a:lnTo>
                  <a:pt x="0" y="9112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843402" y="2044933"/>
            <a:ext cx="7435803" cy="6627159"/>
          </a:xfrm>
          <a:custGeom>
            <a:avLst/>
            <a:gdLst/>
            <a:ahLst/>
            <a:cxnLst/>
            <a:rect r="r" b="b" t="t" l="l"/>
            <a:pathLst>
              <a:path h="6627159" w="7435803">
                <a:moveTo>
                  <a:pt x="0" y="0"/>
                </a:moveTo>
                <a:lnTo>
                  <a:pt x="7435803" y="0"/>
                </a:lnTo>
                <a:lnTo>
                  <a:pt x="7435803" y="6627159"/>
                </a:lnTo>
                <a:lnTo>
                  <a:pt x="0" y="6627159"/>
                </a:lnTo>
                <a:lnTo>
                  <a:pt x="0" y="0"/>
                </a:lnTo>
                <a:close/>
              </a:path>
            </a:pathLst>
          </a:custGeom>
          <a:blipFill>
            <a:blip r:embed="rId8"/>
            <a:stretch>
              <a:fillRect l="0" t="0" r="0" b="0"/>
            </a:stretch>
          </a:blipFill>
        </p:spPr>
      </p:sp>
      <p:sp>
        <p:nvSpPr>
          <p:cNvPr name="Freeform 10" id="10"/>
          <p:cNvSpPr/>
          <p:nvPr/>
        </p:nvSpPr>
        <p:spPr>
          <a:xfrm flipH="false" flipV="false" rot="0">
            <a:off x="9985585" y="2044933"/>
            <a:ext cx="7433690" cy="6627159"/>
          </a:xfrm>
          <a:custGeom>
            <a:avLst/>
            <a:gdLst/>
            <a:ahLst/>
            <a:cxnLst/>
            <a:rect r="r" b="b" t="t" l="l"/>
            <a:pathLst>
              <a:path h="6627159" w="7433690">
                <a:moveTo>
                  <a:pt x="0" y="0"/>
                </a:moveTo>
                <a:lnTo>
                  <a:pt x="7433690" y="0"/>
                </a:lnTo>
                <a:lnTo>
                  <a:pt x="7433690" y="6627159"/>
                </a:lnTo>
                <a:lnTo>
                  <a:pt x="0" y="6627159"/>
                </a:lnTo>
                <a:lnTo>
                  <a:pt x="0" y="0"/>
                </a:lnTo>
                <a:close/>
              </a:path>
            </a:pathLst>
          </a:custGeom>
          <a:blipFill>
            <a:blip r:embed="rId9"/>
            <a:stretch>
              <a:fillRect l="0" t="0" r="0" b="0"/>
            </a:stretch>
          </a:blipFill>
        </p:spPr>
      </p:sp>
      <p:sp>
        <p:nvSpPr>
          <p:cNvPr name="TextBox 11" id="11"/>
          <p:cNvSpPr txBox="true"/>
          <p:nvPr/>
        </p:nvSpPr>
        <p:spPr>
          <a:xfrm rot="0">
            <a:off x="2172873" y="451367"/>
            <a:ext cx="6345674" cy="762208"/>
          </a:xfrm>
          <a:prstGeom prst="rect">
            <a:avLst/>
          </a:prstGeom>
        </p:spPr>
        <p:txBody>
          <a:bodyPr anchor="t" rtlCol="false" tIns="0" lIns="0" bIns="0" rIns="0">
            <a:spAutoFit/>
          </a:bodyPr>
          <a:lstStyle/>
          <a:p>
            <a:pPr algn="l">
              <a:lnSpc>
                <a:spcPts val="5379"/>
              </a:lnSpc>
            </a:pPr>
            <a:r>
              <a:rPr lang="en-US" sz="5326" b="true">
                <a:solidFill>
                  <a:srgbClr val="16456A"/>
                </a:solidFill>
                <a:latin typeface="Poppins Bold"/>
                <a:ea typeface="Poppins Bold"/>
                <a:cs typeface="Poppins Bold"/>
                <a:sym typeface="Poppins Bold"/>
              </a:rPr>
              <a:t>Eksplorasi Data</a:t>
            </a:r>
          </a:p>
        </p:txBody>
      </p:sp>
      <p:sp>
        <p:nvSpPr>
          <p:cNvPr name="TextBox 12" id="12"/>
          <p:cNvSpPr txBox="true"/>
          <p:nvPr/>
        </p:nvSpPr>
        <p:spPr>
          <a:xfrm rot="0">
            <a:off x="2172873" y="1427421"/>
            <a:ext cx="3760116" cy="438110"/>
          </a:xfrm>
          <a:prstGeom prst="rect">
            <a:avLst/>
          </a:prstGeom>
        </p:spPr>
        <p:txBody>
          <a:bodyPr anchor="t" rtlCol="false" tIns="0" lIns="0" bIns="0" rIns="0">
            <a:spAutoFit/>
          </a:bodyPr>
          <a:lstStyle/>
          <a:p>
            <a:pPr algn="l">
              <a:lnSpc>
                <a:spcPts val="3187"/>
              </a:lnSpc>
            </a:pPr>
            <a:r>
              <a:rPr lang="en-US" sz="3156" b="true">
                <a:solidFill>
                  <a:srgbClr val="16456A"/>
                </a:solidFill>
                <a:latin typeface="Poppins Bold"/>
                <a:ea typeface="Poppins Bold"/>
                <a:cs typeface="Poppins Bold"/>
                <a:sym typeface="Poppins Bold"/>
              </a:rPr>
              <a:t>Heatmap</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572593" y="-3521712"/>
            <a:ext cx="13145186" cy="11209259"/>
          </a:xfrm>
          <a:custGeom>
            <a:avLst/>
            <a:gdLst/>
            <a:ahLst/>
            <a:cxnLst/>
            <a:rect r="r" b="b" t="t" l="l"/>
            <a:pathLst>
              <a:path h="11209259" w="13145186">
                <a:moveTo>
                  <a:pt x="0" y="0"/>
                </a:moveTo>
                <a:lnTo>
                  <a:pt x="13145186" y="0"/>
                </a:lnTo>
                <a:lnTo>
                  <a:pt x="13145186" y="11209259"/>
                </a:lnTo>
                <a:lnTo>
                  <a:pt x="0" y="11209259"/>
                </a:lnTo>
                <a:lnTo>
                  <a:pt x="0" y="0"/>
                </a:lnTo>
                <a:close/>
              </a:path>
            </a:pathLst>
          </a:custGeom>
          <a:blipFill>
            <a:blip r:embed="rId4">
              <a:alphaModFix amt="25000"/>
            </a:blip>
            <a:stretch>
              <a:fillRect l="0" t="0" r="0" b="0"/>
            </a:stretch>
          </a:blipFill>
        </p:spPr>
      </p:sp>
      <p:sp>
        <p:nvSpPr>
          <p:cNvPr name="Freeform 7" id="7"/>
          <p:cNvSpPr/>
          <p:nvPr/>
        </p:nvSpPr>
        <p:spPr>
          <a:xfrm flipH="false" flipV="false" rot="0">
            <a:off x="13954249" y="-4887663"/>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5">
              <a:alphaModFix amt="48000"/>
            </a:blip>
            <a:stretch>
              <a:fillRect l="0" t="-969" r="0" b="-969"/>
            </a:stretch>
          </a:blipFill>
        </p:spPr>
      </p:sp>
      <p:sp>
        <p:nvSpPr>
          <p:cNvPr name="Freeform 8" id="8"/>
          <p:cNvSpPr/>
          <p:nvPr/>
        </p:nvSpPr>
        <p:spPr>
          <a:xfrm flipH="false" flipV="false" rot="0">
            <a:off x="403247" y="353045"/>
            <a:ext cx="1440155" cy="911226"/>
          </a:xfrm>
          <a:custGeom>
            <a:avLst/>
            <a:gdLst/>
            <a:ahLst/>
            <a:cxnLst/>
            <a:rect r="r" b="b" t="t" l="l"/>
            <a:pathLst>
              <a:path h="911226" w="1440155">
                <a:moveTo>
                  <a:pt x="0" y="0"/>
                </a:moveTo>
                <a:lnTo>
                  <a:pt x="1440155" y="0"/>
                </a:lnTo>
                <a:lnTo>
                  <a:pt x="1440155" y="911226"/>
                </a:lnTo>
                <a:lnTo>
                  <a:pt x="0" y="9112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970254" y="2243883"/>
            <a:ext cx="10347493" cy="6881083"/>
          </a:xfrm>
          <a:custGeom>
            <a:avLst/>
            <a:gdLst/>
            <a:ahLst/>
            <a:cxnLst/>
            <a:rect r="r" b="b" t="t" l="l"/>
            <a:pathLst>
              <a:path h="6881083" w="10347493">
                <a:moveTo>
                  <a:pt x="0" y="0"/>
                </a:moveTo>
                <a:lnTo>
                  <a:pt x="10347492" y="0"/>
                </a:lnTo>
                <a:lnTo>
                  <a:pt x="10347492" y="6881082"/>
                </a:lnTo>
                <a:lnTo>
                  <a:pt x="0" y="6881082"/>
                </a:lnTo>
                <a:lnTo>
                  <a:pt x="0" y="0"/>
                </a:lnTo>
                <a:close/>
              </a:path>
            </a:pathLst>
          </a:custGeom>
          <a:blipFill>
            <a:blip r:embed="rId8"/>
            <a:stretch>
              <a:fillRect l="0" t="0" r="0" b="0"/>
            </a:stretch>
          </a:blipFill>
          <a:ln w="28575" cap="sq">
            <a:solidFill>
              <a:srgbClr val="000000"/>
            </a:solidFill>
            <a:prstDash val="solid"/>
            <a:miter/>
          </a:ln>
        </p:spPr>
      </p:sp>
      <p:sp>
        <p:nvSpPr>
          <p:cNvPr name="TextBox 10" id="10"/>
          <p:cNvSpPr txBox="true"/>
          <p:nvPr/>
        </p:nvSpPr>
        <p:spPr>
          <a:xfrm rot="0">
            <a:off x="2172873" y="451367"/>
            <a:ext cx="6345674" cy="762208"/>
          </a:xfrm>
          <a:prstGeom prst="rect">
            <a:avLst/>
          </a:prstGeom>
        </p:spPr>
        <p:txBody>
          <a:bodyPr anchor="t" rtlCol="false" tIns="0" lIns="0" bIns="0" rIns="0">
            <a:spAutoFit/>
          </a:bodyPr>
          <a:lstStyle/>
          <a:p>
            <a:pPr algn="l">
              <a:lnSpc>
                <a:spcPts val="5379"/>
              </a:lnSpc>
            </a:pPr>
            <a:r>
              <a:rPr lang="en-US" sz="5326" b="true">
                <a:solidFill>
                  <a:srgbClr val="16456A"/>
                </a:solidFill>
                <a:latin typeface="Poppins Bold"/>
                <a:ea typeface="Poppins Bold"/>
                <a:cs typeface="Poppins Bold"/>
                <a:sym typeface="Poppins Bold"/>
              </a:rPr>
              <a:t>Eksplorasi Data</a:t>
            </a:r>
          </a:p>
        </p:txBody>
      </p:sp>
      <p:sp>
        <p:nvSpPr>
          <p:cNvPr name="TextBox 11" id="11"/>
          <p:cNvSpPr txBox="true"/>
          <p:nvPr/>
        </p:nvSpPr>
        <p:spPr>
          <a:xfrm rot="0">
            <a:off x="2172873" y="1427421"/>
            <a:ext cx="11781377" cy="438110"/>
          </a:xfrm>
          <a:prstGeom prst="rect">
            <a:avLst/>
          </a:prstGeom>
        </p:spPr>
        <p:txBody>
          <a:bodyPr anchor="t" rtlCol="false" tIns="0" lIns="0" bIns="0" rIns="0">
            <a:spAutoFit/>
          </a:bodyPr>
          <a:lstStyle/>
          <a:p>
            <a:pPr algn="l">
              <a:lnSpc>
                <a:spcPts val="3187"/>
              </a:lnSpc>
            </a:pPr>
            <a:r>
              <a:rPr lang="en-US" sz="3156" b="true">
                <a:solidFill>
                  <a:srgbClr val="16456A"/>
                </a:solidFill>
                <a:latin typeface="Poppins Bold"/>
                <a:ea typeface="Poppins Bold"/>
                <a:cs typeface="Poppins Bold"/>
                <a:sym typeface="Poppins Bold"/>
              </a:rPr>
              <a:t>Scatter Plot Harga Bahan Pokok vs Curah Hujan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572593" y="-3521712"/>
            <a:ext cx="13145186" cy="11209259"/>
          </a:xfrm>
          <a:custGeom>
            <a:avLst/>
            <a:gdLst/>
            <a:ahLst/>
            <a:cxnLst/>
            <a:rect r="r" b="b" t="t" l="l"/>
            <a:pathLst>
              <a:path h="11209259" w="13145186">
                <a:moveTo>
                  <a:pt x="0" y="0"/>
                </a:moveTo>
                <a:lnTo>
                  <a:pt x="13145186" y="0"/>
                </a:lnTo>
                <a:lnTo>
                  <a:pt x="13145186" y="11209259"/>
                </a:lnTo>
                <a:lnTo>
                  <a:pt x="0" y="11209259"/>
                </a:lnTo>
                <a:lnTo>
                  <a:pt x="0" y="0"/>
                </a:lnTo>
                <a:close/>
              </a:path>
            </a:pathLst>
          </a:custGeom>
          <a:blipFill>
            <a:blip r:embed="rId4">
              <a:alphaModFix amt="25000"/>
            </a:blip>
            <a:stretch>
              <a:fillRect l="0" t="0" r="0" b="0"/>
            </a:stretch>
          </a:blipFill>
        </p:spPr>
      </p:sp>
      <p:sp>
        <p:nvSpPr>
          <p:cNvPr name="Freeform 7" id="7"/>
          <p:cNvSpPr/>
          <p:nvPr/>
        </p:nvSpPr>
        <p:spPr>
          <a:xfrm flipH="false" flipV="false" rot="0">
            <a:off x="13954249" y="-4887663"/>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5">
              <a:alphaModFix amt="48000"/>
            </a:blip>
            <a:stretch>
              <a:fillRect l="0" t="-969" r="0" b="-969"/>
            </a:stretch>
          </a:blipFill>
        </p:spPr>
      </p:sp>
      <p:sp>
        <p:nvSpPr>
          <p:cNvPr name="Freeform 8" id="8"/>
          <p:cNvSpPr/>
          <p:nvPr/>
        </p:nvSpPr>
        <p:spPr>
          <a:xfrm flipH="false" flipV="false" rot="0">
            <a:off x="403247" y="353045"/>
            <a:ext cx="1440155" cy="911226"/>
          </a:xfrm>
          <a:custGeom>
            <a:avLst/>
            <a:gdLst/>
            <a:ahLst/>
            <a:cxnLst/>
            <a:rect r="r" b="b" t="t" l="l"/>
            <a:pathLst>
              <a:path h="911226" w="1440155">
                <a:moveTo>
                  <a:pt x="0" y="0"/>
                </a:moveTo>
                <a:lnTo>
                  <a:pt x="1440155" y="0"/>
                </a:lnTo>
                <a:lnTo>
                  <a:pt x="1440155" y="911226"/>
                </a:lnTo>
                <a:lnTo>
                  <a:pt x="0" y="9112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172873" y="451367"/>
            <a:ext cx="6345674" cy="762208"/>
          </a:xfrm>
          <a:prstGeom prst="rect">
            <a:avLst/>
          </a:prstGeom>
        </p:spPr>
        <p:txBody>
          <a:bodyPr anchor="t" rtlCol="false" tIns="0" lIns="0" bIns="0" rIns="0">
            <a:spAutoFit/>
          </a:bodyPr>
          <a:lstStyle/>
          <a:p>
            <a:pPr algn="l">
              <a:lnSpc>
                <a:spcPts val="5379"/>
              </a:lnSpc>
            </a:pPr>
            <a:r>
              <a:rPr lang="en-US" sz="5326" b="true">
                <a:solidFill>
                  <a:srgbClr val="16456A"/>
                </a:solidFill>
                <a:latin typeface="Poppins Bold"/>
                <a:ea typeface="Poppins Bold"/>
                <a:cs typeface="Poppins Bold"/>
                <a:sym typeface="Poppins Bold"/>
              </a:rPr>
              <a:t>Eksplorasi Data</a:t>
            </a:r>
          </a:p>
        </p:txBody>
      </p:sp>
      <p:sp>
        <p:nvSpPr>
          <p:cNvPr name="TextBox 10" id="10"/>
          <p:cNvSpPr txBox="true"/>
          <p:nvPr/>
        </p:nvSpPr>
        <p:spPr>
          <a:xfrm rot="0">
            <a:off x="2172873" y="1427421"/>
            <a:ext cx="11781377" cy="438110"/>
          </a:xfrm>
          <a:prstGeom prst="rect">
            <a:avLst/>
          </a:prstGeom>
        </p:spPr>
        <p:txBody>
          <a:bodyPr anchor="t" rtlCol="false" tIns="0" lIns="0" bIns="0" rIns="0">
            <a:spAutoFit/>
          </a:bodyPr>
          <a:lstStyle/>
          <a:p>
            <a:pPr algn="l">
              <a:lnSpc>
                <a:spcPts val="3187"/>
              </a:lnSpc>
            </a:pPr>
            <a:r>
              <a:rPr lang="en-US" sz="3156" b="true">
                <a:solidFill>
                  <a:srgbClr val="16456A"/>
                </a:solidFill>
                <a:latin typeface="Poppins Bold"/>
                <a:ea typeface="Poppins Bold"/>
                <a:cs typeface="Poppins Bold"/>
                <a:sym typeface="Poppins Bold"/>
              </a:rPr>
              <a:t>Scatter Plot Harga Bahan Pokok vs Inflasi</a:t>
            </a:r>
          </a:p>
        </p:txBody>
      </p:sp>
      <p:sp>
        <p:nvSpPr>
          <p:cNvPr name="Freeform 11" id="11"/>
          <p:cNvSpPr/>
          <p:nvPr/>
        </p:nvSpPr>
        <p:spPr>
          <a:xfrm flipH="false" flipV="false" rot="0">
            <a:off x="4121891" y="2082917"/>
            <a:ext cx="10534726" cy="7005593"/>
          </a:xfrm>
          <a:custGeom>
            <a:avLst/>
            <a:gdLst/>
            <a:ahLst/>
            <a:cxnLst/>
            <a:rect r="r" b="b" t="t" l="l"/>
            <a:pathLst>
              <a:path h="7005593" w="10534726">
                <a:moveTo>
                  <a:pt x="0" y="0"/>
                </a:moveTo>
                <a:lnTo>
                  <a:pt x="10534726" y="0"/>
                </a:lnTo>
                <a:lnTo>
                  <a:pt x="10534726" y="7005593"/>
                </a:lnTo>
                <a:lnTo>
                  <a:pt x="0" y="7005593"/>
                </a:lnTo>
                <a:lnTo>
                  <a:pt x="0" y="0"/>
                </a:lnTo>
                <a:close/>
              </a:path>
            </a:pathLst>
          </a:custGeom>
          <a:blipFill>
            <a:blip r:embed="rId8"/>
            <a:stretch>
              <a:fillRect l="0" t="0" r="0" b="0"/>
            </a:stretch>
          </a:blipFill>
          <a:ln w="28575" cap="sq">
            <a:solidFill>
              <a:srgbClr val="000000"/>
            </a:solidFill>
            <a:prstDash val="solid"/>
            <a:miter/>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6572593" y="-3521712"/>
            <a:ext cx="13145186" cy="11209259"/>
          </a:xfrm>
          <a:custGeom>
            <a:avLst/>
            <a:gdLst/>
            <a:ahLst/>
            <a:cxnLst/>
            <a:rect r="r" b="b" t="t" l="l"/>
            <a:pathLst>
              <a:path h="11209259" w="13145186">
                <a:moveTo>
                  <a:pt x="0" y="0"/>
                </a:moveTo>
                <a:lnTo>
                  <a:pt x="13145186" y="0"/>
                </a:lnTo>
                <a:lnTo>
                  <a:pt x="13145186" y="11209259"/>
                </a:lnTo>
                <a:lnTo>
                  <a:pt x="0" y="11209259"/>
                </a:lnTo>
                <a:lnTo>
                  <a:pt x="0" y="0"/>
                </a:lnTo>
                <a:close/>
              </a:path>
            </a:pathLst>
          </a:custGeom>
          <a:blipFill>
            <a:blip r:embed="rId2">
              <a:alphaModFix amt="25000"/>
            </a:blip>
            <a:stretch>
              <a:fillRect l="0" t="0" r="0" b="0"/>
            </a:stretch>
          </a:blipFill>
        </p:spPr>
      </p:sp>
      <p:sp>
        <p:nvSpPr>
          <p:cNvPr name="Freeform 6" id="6"/>
          <p:cNvSpPr/>
          <p:nvPr/>
        </p:nvSpPr>
        <p:spPr>
          <a:xfrm flipH="false" flipV="false" rot="0">
            <a:off x="13954249" y="-4887663"/>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3">
              <a:alphaModFix amt="48000"/>
            </a:blip>
            <a:stretch>
              <a:fillRect l="0" t="-969" r="0" b="-969"/>
            </a:stretch>
          </a:blipFill>
        </p:spPr>
      </p:sp>
      <p:sp>
        <p:nvSpPr>
          <p:cNvPr name="Freeform 7" id="7"/>
          <p:cNvSpPr/>
          <p:nvPr/>
        </p:nvSpPr>
        <p:spPr>
          <a:xfrm flipH="false" flipV="false" rot="0">
            <a:off x="403247" y="225303"/>
            <a:ext cx="1440155" cy="911226"/>
          </a:xfrm>
          <a:custGeom>
            <a:avLst/>
            <a:gdLst/>
            <a:ahLst/>
            <a:cxnLst/>
            <a:rect r="r" b="b" t="t" l="l"/>
            <a:pathLst>
              <a:path h="911226" w="1440155">
                <a:moveTo>
                  <a:pt x="0" y="0"/>
                </a:moveTo>
                <a:lnTo>
                  <a:pt x="1440155" y="0"/>
                </a:lnTo>
                <a:lnTo>
                  <a:pt x="1440155" y="911225"/>
                </a:lnTo>
                <a:lnTo>
                  <a:pt x="0" y="9112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493697" y="1615522"/>
            <a:ext cx="15765603" cy="4558812"/>
          </a:xfrm>
          <a:custGeom>
            <a:avLst/>
            <a:gdLst/>
            <a:ahLst/>
            <a:cxnLst/>
            <a:rect r="r" b="b" t="t" l="l"/>
            <a:pathLst>
              <a:path h="4558812" w="15765603">
                <a:moveTo>
                  <a:pt x="0" y="0"/>
                </a:moveTo>
                <a:lnTo>
                  <a:pt x="15765603" y="0"/>
                </a:lnTo>
                <a:lnTo>
                  <a:pt x="15765603" y="4558812"/>
                </a:lnTo>
                <a:lnTo>
                  <a:pt x="0" y="4558812"/>
                </a:lnTo>
                <a:lnTo>
                  <a:pt x="0" y="0"/>
                </a:lnTo>
                <a:close/>
              </a:path>
            </a:pathLst>
          </a:custGeom>
          <a:blipFill>
            <a:blip r:embed="rId6"/>
            <a:stretch>
              <a:fillRect l="0" t="0" r="-2060" b="0"/>
            </a:stretch>
          </a:blipFill>
        </p:spPr>
      </p:sp>
      <p:sp>
        <p:nvSpPr>
          <p:cNvPr name="Freeform 9" id="9"/>
          <p:cNvSpPr/>
          <p:nvPr/>
        </p:nvSpPr>
        <p:spPr>
          <a:xfrm flipH="false" flipV="false" rot="0">
            <a:off x="4111685" y="6345784"/>
            <a:ext cx="10529626" cy="2983299"/>
          </a:xfrm>
          <a:custGeom>
            <a:avLst/>
            <a:gdLst/>
            <a:ahLst/>
            <a:cxnLst/>
            <a:rect r="r" b="b" t="t" l="l"/>
            <a:pathLst>
              <a:path h="2983299" w="10529626">
                <a:moveTo>
                  <a:pt x="0" y="0"/>
                </a:moveTo>
                <a:lnTo>
                  <a:pt x="10529627" y="0"/>
                </a:lnTo>
                <a:lnTo>
                  <a:pt x="10529627" y="2983299"/>
                </a:lnTo>
                <a:lnTo>
                  <a:pt x="0" y="2983299"/>
                </a:lnTo>
                <a:lnTo>
                  <a:pt x="0" y="0"/>
                </a:lnTo>
                <a:close/>
              </a:path>
            </a:pathLst>
          </a:custGeom>
          <a:blipFill>
            <a:blip r:embed="rId7"/>
            <a:stretch>
              <a:fillRect l="0" t="0" r="0" b="0"/>
            </a:stretch>
          </a:blipFill>
        </p:spPr>
      </p:sp>
      <p:sp>
        <p:nvSpPr>
          <p:cNvPr name="TextBox 10" id="10"/>
          <p:cNvSpPr txBox="true"/>
          <p:nvPr/>
        </p:nvSpPr>
        <p:spPr>
          <a:xfrm rot="0">
            <a:off x="2172873" y="323624"/>
            <a:ext cx="6345674" cy="762208"/>
          </a:xfrm>
          <a:prstGeom prst="rect">
            <a:avLst/>
          </a:prstGeom>
        </p:spPr>
        <p:txBody>
          <a:bodyPr anchor="t" rtlCol="false" tIns="0" lIns="0" bIns="0" rIns="0">
            <a:spAutoFit/>
          </a:bodyPr>
          <a:lstStyle/>
          <a:p>
            <a:pPr algn="l">
              <a:lnSpc>
                <a:spcPts val="5379"/>
              </a:lnSpc>
            </a:pPr>
            <a:r>
              <a:rPr lang="en-US" sz="5326" b="true">
                <a:solidFill>
                  <a:srgbClr val="16456A"/>
                </a:solidFill>
                <a:latin typeface="Poppins Bold"/>
                <a:ea typeface="Poppins Bold"/>
                <a:cs typeface="Poppins Bold"/>
                <a:sym typeface="Poppins Bold"/>
              </a:rPr>
              <a:t>Eksplorasi Data</a:t>
            </a:r>
          </a:p>
        </p:txBody>
      </p:sp>
      <p:sp>
        <p:nvSpPr>
          <p:cNvPr name="TextBox 11" id="11"/>
          <p:cNvSpPr txBox="true"/>
          <p:nvPr/>
        </p:nvSpPr>
        <p:spPr>
          <a:xfrm rot="0">
            <a:off x="2172873" y="1123932"/>
            <a:ext cx="3760116" cy="438110"/>
          </a:xfrm>
          <a:prstGeom prst="rect">
            <a:avLst/>
          </a:prstGeom>
        </p:spPr>
        <p:txBody>
          <a:bodyPr anchor="t" rtlCol="false" tIns="0" lIns="0" bIns="0" rIns="0">
            <a:spAutoFit/>
          </a:bodyPr>
          <a:lstStyle/>
          <a:p>
            <a:pPr algn="l">
              <a:lnSpc>
                <a:spcPts val="3187"/>
              </a:lnSpc>
            </a:pPr>
            <a:r>
              <a:rPr lang="en-US" sz="3156" b="true">
                <a:solidFill>
                  <a:srgbClr val="16456A"/>
                </a:solidFill>
                <a:latin typeface="Poppins Bold"/>
                <a:ea typeface="Poppins Bold"/>
                <a:cs typeface="Poppins Bold"/>
                <a:sym typeface="Poppins Bold"/>
              </a:rPr>
              <a:t>Boxplot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929344"/>
            <a:ext cx="19527875" cy="2660073"/>
            <a:chOff x="0" y="0"/>
            <a:chExt cx="5143144" cy="700595"/>
          </a:xfrm>
        </p:grpSpPr>
        <p:sp>
          <p:nvSpPr>
            <p:cNvPr name="Freeform 3" id="3"/>
            <p:cNvSpPr/>
            <p:nvPr/>
          </p:nvSpPr>
          <p:spPr>
            <a:xfrm flipH="false" flipV="false" rot="0">
              <a:off x="0" y="0"/>
              <a:ext cx="5143144" cy="700595"/>
            </a:xfrm>
            <a:custGeom>
              <a:avLst/>
              <a:gdLst/>
              <a:ahLst/>
              <a:cxnLst/>
              <a:rect r="r" b="b" t="t" l="l"/>
              <a:pathLst>
                <a:path h="700595" w="5143144">
                  <a:moveTo>
                    <a:pt x="0" y="0"/>
                  </a:moveTo>
                  <a:lnTo>
                    <a:pt x="5143144" y="0"/>
                  </a:lnTo>
                  <a:lnTo>
                    <a:pt x="5143144" y="700595"/>
                  </a:lnTo>
                  <a:lnTo>
                    <a:pt x="0" y="700595"/>
                  </a:lnTo>
                  <a:close/>
                </a:path>
              </a:pathLst>
            </a:custGeom>
            <a:solidFill>
              <a:srgbClr val="16456A"/>
            </a:solidFill>
          </p:spPr>
        </p:sp>
        <p:sp>
          <p:nvSpPr>
            <p:cNvPr name="TextBox 4" id="4"/>
            <p:cNvSpPr txBox="true"/>
            <p:nvPr/>
          </p:nvSpPr>
          <p:spPr>
            <a:xfrm>
              <a:off x="0" y="19050"/>
              <a:ext cx="5143144" cy="681545"/>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6572593" y="-3521712"/>
            <a:ext cx="13145186" cy="11209259"/>
          </a:xfrm>
          <a:custGeom>
            <a:avLst/>
            <a:gdLst/>
            <a:ahLst/>
            <a:cxnLst/>
            <a:rect r="r" b="b" t="t" l="l"/>
            <a:pathLst>
              <a:path h="11209259" w="13145186">
                <a:moveTo>
                  <a:pt x="0" y="0"/>
                </a:moveTo>
                <a:lnTo>
                  <a:pt x="13145186" y="0"/>
                </a:lnTo>
                <a:lnTo>
                  <a:pt x="13145186" y="11209259"/>
                </a:lnTo>
                <a:lnTo>
                  <a:pt x="0" y="11209259"/>
                </a:lnTo>
                <a:lnTo>
                  <a:pt x="0" y="0"/>
                </a:lnTo>
                <a:close/>
              </a:path>
            </a:pathLst>
          </a:custGeom>
          <a:blipFill>
            <a:blip r:embed="rId2">
              <a:alphaModFix amt="25000"/>
            </a:blip>
            <a:stretch>
              <a:fillRect l="0" t="0" r="0" b="0"/>
            </a:stretch>
          </a:blipFill>
        </p:spPr>
      </p:sp>
      <p:sp>
        <p:nvSpPr>
          <p:cNvPr name="Freeform 6" id="6"/>
          <p:cNvSpPr/>
          <p:nvPr/>
        </p:nvSpPr>
        <p:spPr>
          <a:xfrm flipH="false" flipV="false" rot="0">
            <a:off x="13954249" y="-4887663"/>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3">
              <a:alphaModFix amt="48000"/>
            </a:blip>
            <a:stretch>
              <a:fillRect l="0" t="-969" r="0" b="-969"/>
            </a:stretch>
          </a:blipFill>
        </p:spPr>
      </p:sp>
      <p:sp>
        <p:nvSpPr>
          <p:cNvPr name="Freeform 7" id="7"/>
          <p:cNvSpPr/>
          <p:nvPr/>
        </p:nvSpPr>
        <p:spPr>
          <a:xfrm flipH="false" flipV="false" rot="0">
            <a:off x="403247" y="225303"/>
            <a:ext cx="1440155" cy="911226"/>
          </a:xfrm>
          <a:custGeom>
            <a:avLst/>
            <a:gdLst/>
            <a:ahLst/>
            <a:cxnLst/>
            <a:rect r="r" b="b" t="t" l="l"/>
            <a:pathLst>
              <a:path h="911226" w="1440155">
                <a:moveTo>
                  <a:pt x="0" y="0"/>
                </a:moveTo>
                <a:lnTo>
                  <a:pt x="1440155" y="0"/>
                </a:lnTo>
                <a:lnTo>
                  <a:pt x="1440155" y="911225"/>
                </a:lnTo>
                <a:lnTo>
                  <a:pt x="0" y="9112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447389" y="1822479"/>
            <a:ext cx="13393222" cy="3794626"/>
          </a:xfrm>
          <a:custGeom>
            <a:avLst/>
            <a:gdLst/>
            <a:ahLst/>
            <a:cxnLst/>
            <a:rect r="r" b="b" t="t" l="l"/>
            <a:pathLst>
              <a:path h="3794626" w="13393222">
                <a:moveTo>
                  <a:pt x="0" y="0"/>
                </a:moveTo>
                <a:lnTo>
                  <a:pt x="13393222" y="0"/>
                </a:lnTo>
                <a:lnTo>
                  <a:pt x="13393222" y="3794626"/>
                </a:lnTo>
                <a:lnTo>
                  <a:pt x="0" y="3794626"/>
                </a:lnTo>
                <a:lnTo>
                  <a:pt x="0" y="0"/>
                </a:lnTo>
                <a:close/>
              </a:path>
            </a:pathLst>
          </a:custGeom>
          <a:blipFill>
            <a:blip r:embed="rId6"/>
            <a:stretch>
              <a:fillRect l="0" t="0" r="0" b="0"/>
            </a:stretch>
          </a:blipFill>
        </p:spPr>
      </p:sp>
      <p:sp>
        <p:nvSpPr>
          <p:cNvPr name="Freeform 9" id="9"/>
          <p:cNvSpPr/>
          <p:nvPr/>
        </p:nvSpPr>
        <p:spPr>
          <a:xfrm flipH="false" flipV="false" rot="0">
            <a:off x="2611281" y="5877543"/>
            <a:ext cx="13393222" cy="3794626"/>
          </a:xfrm>
          <a:custGeom>
            <a:avLst/>
            <a:gdLst/>
            <a:ahLst/>
            <a:cxnLst/>
            <a:rect r="r" b="b" t="t" l="l"/>
            <a:pathLst>
              <a:path h="3794626" w="13393222">
                <a:moveTo>
                  <a:pt x="0" y="0"/>
                </a:moveTo>
                <a:lnTo>
                  <a:pt x="13393222" y="0"/>
                </a:lnTo>
                <a:lnTo>
                  <a:pt x="13393222" y="3794626"/>
                </a:lnTo>
                <a:lnTo>
                  <a:pt x="0" y="3794626"/>
                </a:lnTo>
                <a:lnTo>
                  <a:pt x="0" y="0"/>
                </a:lnTo>
                <a:close/>
              </a:path>
            </a:pathLst>
          </a:custGeom>
          <a:blipFill>
            <a:blip r:embed="rId7"/>
            <a:stretch>
              <a:fillRect l="0" t="0" r="0" b="0"/>
            </a:stretch>
          </a:blipFill>
        </p:spPr>
      </p:sp>
      <p:sp>
        <p:nvSpPr>
          <p:cNvPr name="TextBox 10" id="10"/>
          <p:cNvSpPr txBox="true"/>
          <p:nvPr/>
        </p:nvSpPr>
        <p:spPr>
          <a:xfrm rot="0">
            <a:off x="2172873" y="323624"/>
            <a:ext cx="6345674" cy="762208"/>
          </a:xfrm>
          <a:prstGeom prst="rect">
            <a:avLst/>
          </a:prstGeom>
        </p:spPr>
        <p:txBody>
          <a:bodyPr anchor="t" rtlCol="false" tIns="0" lIns="0" bIns="0" rIns="0">
            <a:spAutoFit/>
          </a:bodyPr>
          <a:lstStyle/>
          <a:p>
            <a:pPr algn="l">
              <a:lnSpc>
                <a:spcPts val="5379"/>
              </a:lnSpc>
            </a:pPr>
            <a:r>
              <a:rPr lang="en-US" sz="5326" b="true">
                <a:solidFill>
                  <a:srgbClr val="16456A"/>
                </a:solidFill>
                <a:latin typeface="Poppins Bold"/>
                <a:ea typeface="Poppins Bold"/>
                <a:cs typeface="Poppins Bold"/>
                <a:sym typeface="Poppins Bold"/>
              </a:rPr>
              <a:t>Eksplorasi Data</a:t>
            </a:r>
          </a:p>
        </p:txBody>
      </p:sp>
      <p:sp>
        <p:nvSpPr>
          <p:cNvPr name="TextBox 11" id="11"/>
          <p:cNvSpPr txBox="true"/>
          <p:nvPr/>
        </p:nvSpPr>
        <p:spPr>
          <a:xfrm rot="0">
            <a:off x="2172873" y="1123932"/>
            <a:ext cx="3760116" cy="438110"/>
          </a:xfrm>
          <a:prstGeom prst="rect">
            <a:avLst/>
          </a:prstGeom>
        </p:spPr>
        <p:txBody>
          <a:bodyPr anchor="t" rtlCol="false" tIns="0" lIns="0" bIns="0" rIns="0">
            <a:spAutoFit/>
          </a:bodyPr>
          <a:lstStyle/>
          <a:p>
            <a:pPr algn="l">
              <a:lnSpc>
                <a:spcPts val="3187"/>
              </a:lnSpc>
            </a:pPr>
            <a:r>
              <a:rPr lang="en-US" sz="3156" b="true">
                <a:solidFill>
                  <a:srgbClr val="16456A"/>
                </a:solidFill>
                <a:latin typeface="Poppins Bold"/>
                <a:ea typeface="Poppins Bold"/>
                <a:cs typeface="Poppins Bold"/>
                <a:sym typeface="Poppins Bold"/>
              </a:rPr>
              <a:t>Line Plot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6572593" y="-3521712"/>
            <a:ext cx="13145186" cy="11209259"/>
          </a:xfrm>
          <a:custGeom>
            <a:avLst/>
            <a:gdLst/>
            <a:ahLst/>
            <a:cxnLst/>
            <a:rect r="r" b="b" t="t" l="l"/>
            <a:pathLst>
              <a:path h="11209259" w="13145186">
                <a:moveTo>
                  <a:pt x="0" y="0"/>
                </a:moveTo>
                <a:lnTo>
                  <a:pt x="13145186" y="0"/>
                </a:lnTo>
                <a:lnTo>
                  <a:pt x="13145186" y="11209259"/>
                </a:lnTo>
                <a:lnTo>
                  <a:pt x="0" y="11209259"/>
                </a:lnTo>
                <a:lnTo>
                  <a:pt x="0" y="0"/>
                </a:lnTo>
                <a:close/>
              </a:path>
            </a:pathLst>
          </a:custGeom>
          <a:blipFill>
            <a:blip r:embed="rId2">
              <a:alphaModFix amt="25000"/>
            </a:blip>
            <a:stretch>
              <a:fillRect l="0" t="0" r="0" b="0"/>
            </a:stretch>
          </a:blipFill>
        </p:spPr>
      </p:sp>
      <p:sp>
        <p:nvSpPr>
          <p:cNvPr name="Freeform 6" id="6"/>
          <p:cNvSpPr/>
          <p:nvPr/>
        </p:nvSpPr>
        <p:spPr>
          <a:xfrm flipH="false" flipV="false" rot="0">
            <a:off x="13954249" y="-4887663"/>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3">
              <a:alphaModFix amt="48000"/>
            </a:blip>
            <a:stretch>
              <a:fillRect l="0" t="-969" r="0" b="-969"/>
            </a:stretch>
          </a:blipFill>
        </p:spPr>
      </p:sp>
      <p:sp>
        <p:nvSpPr>
          <p:cNvPr name="Freeform 7" id="7"/>
          <p:cNvSpPr/>
          <p:nvPr/>
        </p:nvSpPr>
        <p:spPr>
          <a:xfrm flipH="false" flipV="false" rot="0">
            <a:off x="348616" y="744293"/>
            <a:ext cx="1440155" cy="911226"/>
          </a:xfrm>
          <a:custGeom>
            <a:avLst/>
            <a:gdLst/>
            <a:ahLst/>
            <a:cxnLst/>
            <a:rect r="r" b="b" t="t" l="l"/>
            <a:pathLst>
              <a:path h="911226" w="1440155">
                <a:moveTo>
                  <a:pt x="0" y="0"/>
                </a:moveTo>
                <a:lnTo>
                  <a:pt x="1440156" y="0"/>
                </a:lnTo>
                <a:lnTo>
                  <a:pt x="1440156" y="911225"/>
                </a:lnTo>
                <a:lnTo>
                  <a:pt x="0" y="9112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961522" y="2035292"/>
            <a:ext cx="14104131" cy="3843478"/>
          </a:xfrm>
          <a:prstGeom prst="rect">
            <a:avLst/>
          </a:prstGeom>
        </p:spPr>
        <p:txBody>
          <a:bodyPr anchor="t" rtlCol="false" tIns="0" lIns="0" bIns="0" rIns="0">
            <a:spAutoFit/>
          </a:bodyPr>
          <a:lstStyle/>
          <a:p>
            <a:pPr algn="just">
              <a:lnSpc>
                <a:spcPts val="3404"/>
              </a:lnSpc>
            </a:pPr>
            <a:r>
              <a:rPr lang="en-US" sz="2431" b="true">
                <a:solidFill>
                  <a:srgbClr val="16456A"/>
                </a:solidFill>
                <a:latin typeface="Open Sans Bold"/>
                <a:ea typeface="Open Sans Bold"/>
                <a:cs typeface="Open Sans Bold"/>
                <a:sym typeface="Open Sans Bold"/>
              </a:rPr>
              <a:t>Perlunya dilakukan analisis lanjutan menggunakan regresi berganda. Regresi berganda memungkinkan peneliti menilai pengaruh curah hujan dan inflasi secara bersamaan terhadap harga komoditas, mengontrol variabel satu sama lain, serta mengukur signifikansi hubungan yang tidak dapat terlihat hanya dari visualisasi. </a:t>
            </a:r>
          </a:p>
          <a:p>
            <a:pPr algn="just">
              <a:lnSpc>
                <a:spcPts val="3404"/>
              </a:lnSpc>
            </a:pPr>
          </a:p>
          <a:p>
            <a:pPr algn="just">
              <a:lnSpc>
                <a:spcPts val="3404"/>
              </a:lnSpc>
            </a:pPr>
            <a:r>
              <a:rPr lang="en-US" sz="2431" b="true">
                <a:solidFill>
                  <a:srgbClr val="16456A"/>
                </a:solidFill>
                <a:latin typeface="Open Sans Bold"/>
                <a:ea typeface="Open Sans Bold"/>
                <a:cs typeface="Open Sans Bold"/>
                <a:sym typeface="Open Sans Bold"/>
              </a:rPr>
              <a:t>Dengan demikian, visualisasi pada eksplorasi data berperan sebagai tahap awal untuk memahami pola data, sementara regresi berganda menjadi tahap an</a:t>
            </a:r>
            <a:r>
              <a:rPr lang="en-US" b="true" sz="2431">
                <a:solidFill>
                  <a:srgbClr val="16456A"/>
                </a:solidFill>
                <a:latin typeface="Open Sans Bold"/>
                <a:ea typeface="Open Sans Bold"/>
                <a:cs typeface="Open Sans Bold"/>
                <a:sym typeface="Open Sans Bold"/>
              </a:rPr>
              <a:t>alisis lanjutan yang digunakan untuk menguji hubungan tersebut secara kuantitatif dan memberikan kesimpulan yang lebih kuat serta berbasis bukti statistik.</a:t>
            </a:r>
          </a:p>
        </p:txBody>
      </p:sp>
      <p:sp>
        <p:nvSpPr>
          <p:cNvPr name="Freeform 9" id="9"/>
          <p:cNvSpPr/>
          <p:nvPr/>
        </p:nvSpPr>
        <p:spPr>
          <a:xfrm flipH="false" flipV="false" rot="0">
            <a:off x="5579721" y="6235906"/>
            <a:ext cx="5819878" cy="2903280"/>
          </a:xfrm>
          <a:custGeom>
            <a:avLst/>
            <a:gdLst/>
            <a:ahLst/>
            <a:cxnLst/>
            <a:rect r="r" b="b" t="t" l="l"/>
            <a:pathLst>
              <a:path h="2903280" w="5819878">
                <a:moveTo>
                  <a:pt x="0" y="0"/>
                </a:moveTo>
                <a:lnTo>
                  <a:pt x="5819878" y="0"/>
                </a:lnTo>
                <a:lnTo>
                  <a:pt x="5819878" y="2903281"/>
                </a:lnTo>
                <a:lnTo>
                  <a:pt x="0" y="2903281"/>
                </a:lnTo>
                <a:lnTo>
                  <a:pt x="0" y="0"/>
                </a:lnTo>
                <a:close/>
              </a:path>
            </a:pathLst>
          </a:custGeom>
          <a:blipFill>
            <a:blip r:embed="rId6"/>
            <a:stretch>
              <a:fillRect l="0" t="0" r="0" b="0"/>
            </a:stretch>
          </a:blipFill>
        </p:spPr>
      </p:sp>
      <p:sp>
        <p:nvSpPr>
          <p:cNvPr name="TextBox 10" id="10"/>
          <p:cNvSpPr txBox="true"/>
          <p:nvPr/>
        </p:nvSpPr>
        <p:spPr>
          <a:xfrm rot="0">
            <a:off x="2118242" y="842614"/>
            <a:ext cx="9514245" cy="762208"/>
          </a:xfrm>
          <a:prstGeom prst="rect">
            <a:avLst/>
          </a:prstGeom>
        </p:spPr>
        <p:txBody>
          <a:bodyPr anchor="t" rtlCol="false" tIns="0" lIns="0" bIns="0" rIns="0">
            <a:spAutoFit/>
          </a:bodyPr>
          <a:lstStyle/>
          <a:p>
            <a:pPr algn="l">
              <a:lnSpc>
                <a:spcPts val="5379"/>
              </a:lnSpc>
            </a:pPr>
            <a:r>
              <a:rPr lang="en-US" sz="5326" b="true">
                <a:solidFill>
                  <a:srgbClr val="16456A"/>
                </a:solidFill>
                <a:latin typeface="Poppins Bold"/>
                <a:ea typeface="Poppins Bold"/>
                <a:cs typeface="Poppins Bold"/>
                <a:sym typeface="Poppins Bold"/>
              </a:rPr>
              <a:t>Rencana Analisis Lanjutan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4472234" y="-1303801"/>
            <a:ext cx="9978019" cy="8508529"/>
          </a:xfrm>
          <a:custGeom>
            <a:avLst/>
            <a:gdLst/>
            <a:ahLst/>
            <a:cxnLst/>
            <a:rect r="r" b="b" t="t" l="l"/>
            <a:pathLst>
              <a:path h="8508529" w="9978019">
                <a:moveTo>
                  <a:pt x="0" y="0"/>
                </a:moveTo>
                <a:lnTo>
                  <a:pt x="9978019" y="0"/>
                </a:lnTo>
                <a:lnTo>
                  <a:pt x="9978019" y="8508529"/>
                </a:lnTo>
                <a:lnTo>
                  <a:pt x="0" y="8508529"/>
                </a:lnTo>
                <a:lnTo>
                  <a:pt x="0" y="0"/>
                </a:lnTo>
                <a:close/>
              </a:path>
            </a:pathLst>
          </a:custGeom>
          <a:blipFill>
            <a:blip r:embed="rId2">
              <a:alphaModFix amt="50000"/>
            </a:blip>
            <a:stretch>
              <a:fillRect l="0" t="0" r="0" b="0"/>
            </a:stretch>
          </a:blipFill>
        </p:spPr>
      </p:sp>
      <p:sp>
        <p:nvSpPr>
          <p:cNvPr name="Freeform 6" id="6"/>
          <p:cNvSpPr/>
          <p:nvPr/>
        </p:nvSpPr>
        <p:spPr>
          <a:xfrm flipH="false" flipV="false" rot="0">
            <a:off x="3569283" y="2362395"/>
            <a:ext cx="1936502" cy="3123391"/>
          </a:xfrm>
          <a:custGeom>
            <a:avLst/>
            <a:gdLst/>
            <a:ahLst/>
            <a:cxnLst/>
            <a:rect r="r" b="b" t="t" l="l"/>
            <a:pathLst>
              <a:path h="3123391" w="1936502">
                <a:moveTo>
                  <a:pt x="0" y="0"/>
                </a:moveTo>
                <a:lnTo>
                  <a:pt x="1936502" y="0"/>
                </a:lnTo>
                <a:lnTo>
                  <a:pt x="1936502" y="3123391"/>
                </a:lnTo>
                <a:lnTo>
                  <a:pt x="0" y="31233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161752" y="2191503"/>
            <a:ext cx="2624119" cy="4065536"/>
          </a:xfrm>
          <a:custGeom>
            <a:avLst/>
            <a:gdLst/>
            <a:ahLst/>
            <a:cxnLst/>
            <a:rect r="r" b="b" t="t" l="l"/>
            <a:pathLst>
              <a:path h="4065536" w="2624119">
                <a:moveTo>
                  <a:pt x="0" y="0"/>
                </a:moveTo>
                <a:lnTo>
                  <a:pt x="2624119" y="0"/>
                </a:lnTo>
                <a:lnTo>
                  <a:pt x="2624119" y="4065536"/>
                </a:lnTo>
                <a:lnTo>
                  <a:pt x="0" y="40655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4012184" y="4314384"/>
            <a:ext cx="2517450" cy="4060403"/>
          </a:xfrm>
          <a:custGeom>
            <a:avLst/>
            <a:gdLst/>
            <a:ahLst/>
            <a:cxnLst/>
            <a:rect r="r" b="b" t="t" l="l"/>
            <a:pathLst>
              <a:path h="4060403" w="2517450">
                <a:moveTo>
                  <a:pt x="0" y="0"/>
                </a:moveTo>
                <a:lnTo>
                  <a:pt x="2517450" y="0"/>
                </a:lnTo>
                <a:lnTo>
                  <a:pt x="2517450" y="4060403"/>
                </a:lnTo>
                <a:lnTo>
                  <a:pt x="0" y="40604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719782" y="4662819"/>
            <a:ext cx="2817752" cy="3595739"/>
          </a:xfrm>
          <a:custGeom>
            <a:avLst/>
            <a:gdLst/>
            <a:ahLst/>
            <a:cxnLst/>
            <a:rect r="r" b="b" t="t" l="l"/>
            <a:pathLst>
              <a:path h="3595739" w="2817752">
                <a:moveTo>
                  <a:pt x="0" y="0"/>
                </a:moveTo>
                <a:lnTo>
                  <a:pt x="2817752" y="0"/>
                </a:lnTo>
                <a:lnTo>
                  <a:pt x="2817752" y="3595740"/>
                </a:lnTo>
                <a:lnTo>
                  <a:pt x="0" y="35957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9706548" y="1726048"/>
            <a:ext cx="5661297" cy="997585"/>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Kesimpulan</a:t>
            </a:r>
          </a:p>
        </p:txBody>
      </p:sp>
      <p:sp>
        <p:nvSpPr>
          <p:cNvPr name="TextBox 11" id="11"/>
          <p:cNvSpPr txBox="true"/>
          <p:nvPr/>
        </p:nvSpPr>
        <p:spPr>
          <a:xfrm rot="0">
            <a:off x="8070011" y="3150308"/>
            <a:ext cx="8934371" cy="5108251"/>
          </a:xfrm>
          <a:prstGeom prst="rect">
            <a:avLst/>
          </a:prstGeom>
        </p:spPr>
        <p:txBody>
          <a:bodyPr anchor="t" rtlCol="false" tIns="0" lIns="0" bIns="0" rIns="0">
            <a:spAutoFit/>
          </a:bodyPr>
          <a:lstStyle/>
          <a:p>
            <a:pPr algn="ctr">
              <a:lnSpc>
                <a:spcPts val="2112"/>
              </a:lnSpc>
            </a:pPr>
            <a:r>
              <a:rPr lang="en-US" sz="2091">
                <a:solidFill>
                  <a:srgbClr val="368CD1"/>
                </a:solidFill>
                <a:latin typeface="Poppins"/>
                <a:ea typeface="Poppins"/>
                <a:cs typeface="Poppins"/>
                <a:sym typeface="Poppins"/>
              </a:rPr>
              <a:t>Dataset dari BMKG, BPS, dan PIHPS berhasil digabungkan dan distandarisasi sehingga menghasilkan data yang konsisten untuk dianalisis lebih lanjut. Eksplorasi menunjukkan bahwa komoditas hortikultura seperti cabai dan bawang memiliki variasi harga paling tinggi, sementara perbedaan pola curah hujan dan inflasi antarprovinsi turut mencerminkan dinamika kondisi wilayah di Pulau Jawa. Analisis korelasi mengungkap bahwa curah hujan memiliki hubungan positif moderat dengan inflasi serta dengan beberapa komoditas sensitif cuaca, sedangkan inflasi secara umum hanya memiliki hubungan yang sangat lemah terhadap harga sebagian besar bahan pokok. </a:t>
            </a:r>
          </a:p>
          <a:p>
            <a:pPr algn="ctr">
              <a:lnSpc>
                <a:spcPts val="2112"/>
              </a:lnSpc>
            </a:pPr>
          </a:p>
          <a:p>
            <a:pPr algn="ctr">
              <a:lnSpc>
                <a:spcPts val="2112"/>
              </a:lnSpc>
            </a:pPr>
            <a:r>
              <a:rPr lang="en-US" sz="2091">
                <a:solidFill>
                  <a:srgbClr val="368CD1"/>
                </a:solidFill>
                <a:latin typeface="Poppins"/>
                <a:ea typeface="Poppins"/>
                <a:cs typeface="Poppins"/>
                <a:sym typeface="Poppins"/>
              </a:rPr>
              <a:t>Visualisasi juga menunjukkan bahwa hubungan antarvariabel tidak membentuk pola linear yang kuat sehingga diperlukan analisis lanjutan, seperti regresi berganda untuk menguji pengaruh curah hujan dan inflasi secara kuantitatif terhadap harga komoditas pangan. Secara keseluruhan, dataset telah siap digunakan untuk tahap pemodelan statistik berikutnya.</a:t>
            </a:r>
          </a:p>
          <a:p>
            <a:pPr algn="ctr">
              <a:lnSpc>
                <a:spcPts val="2112"/>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sp>
        <p:nvSpPr>
          <p:cNvPr name="Freeform 2" id="2"/>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2">
              <a:alphaModFix amt="50000"/>
            </a:blip>
            <a:stretch>
              <a:fillRect l="0" t="0" r="0" b="0"/>
            </a:stretch>
          </a:blipFill>
        </p:spPr>
      </p:sp>
      <p:grpSp>
        <p:nvGrpSpPr>
          <p:cNvPr name="Group 3" id="3"/>
          <p:cNvGrpSpPr/>
          <p:nvPr/>
        </p:nvGrpSpPr>
        <p:grpSpPr>
          <a:xfrm rot="0">
            <a:off x="-970336" y="9503317"/>
            <a:ext cx="19527875" cy="3086100"/>
            <a:chOff x="0" y="0"/>
            <a:chExt cx="5143144" cy="812800"/>
          </a:xfrm>
        </p:grpSpPr>
        <p:sp>
          <p:nvSpPr>
            <p:cNvPr name="Freeform 4" id="4"/>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5" id="5"/>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6" id="6"/>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603788" y="1521924"/>
            <a:ext cx="13260423" cy="6533772"/>
          </a:xfrm>
          <a:custGeom>
            <a:avLst/>
            <a:gdLst/>
            <a:ahLst/>
            <a:cxnLst/>
            <a:rect r="r" b="b" t="t" l="l"/>
            <a:pathLst>
              <a:path h="6533772" w="13260423">
                <a:moveTo>
                  <a:pt x="0" y="0"/>
                </a:moveTo>
                <a:lnTo>
                  <a:pt x="13260423" y="0"/>
                </a:lnTo>
                <a:lnTo>
                  <a:pt x="13260423" y="6533772"/>
                </a:lnTo>
                <a:lnTo>
                  <a:pt x="0" y="65337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4308472" y="4406608"/>
            <a:ext cx="9851054" cy="1569034"/>
          </a:xfrm>
          <a:prstGeom prst="rect">
            <a:avLst/>
          </a:prstGeom>
        </p:spPr>
        <p:txBody>
          <a:bodyPr anchor="t" rtlCol="false" tIns="0" lIns="0" bIns="0" rIns="0">
            <a:spAutoFit/>
          </a:bodyPr>
          <a:lstStyle/>
          <a:p>
            <a:pPr algn="ctr">
              <a:lnSpc>
                <a:spcPts val="11054"/>
              </a:lnSpc>
            </a:pPr>
            <a:r>
              <a:rPr lang="en-US" sz="10945" b="true">
                <a:solidFill>
                  <a:srgbClr val="16456A"/>
                </a:solidFill>
                <a:latin typeface="Poppins Bold"/>
                <a:ea typeface="Poppins Bold"/>
                <a:cs typeface="Poppins Bold"/>
                <a:sym typeface="Poppins Bold"/>
              </a:rPr>
              <a:t>TERIMA KASIH</a:t>
            </a:r>
          </a:p>
        </p:txBody>
      </p:sp>
      <p:sp>
        <p:nvSpPr>
          <p:cNvPr name="Freeform 9" id="9"/>
          <p:cNvSpPr/>
          <p:nvPr/>
        </p:nvSpPr>
        <p:spPr>
          <a:xfrm flipH="false" flipV="false" rot="0">
            <a:off x="9675422" y="6584934"/>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1094647" y="6584934"/>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2513873" y="6584934"/>
            <a:ext cx="2143275" cy="2155030"/>
          </a:xfrm>
          <a:custGeom>
            <a:avLst/>
            <a:gdLst/>
            <a:ahLst/>
            <a:cxnLst/>
            <a:rect r="r" b="b" t="t" l="l"/>
            <a:pathLst>
              <a:path h="2155030" w="2143275">
                <a:moveTo>
                  <a:pt x="0" y="0"/>
                </a:moveTo>
                <a:lnTo>
                  <a:pt x="2143274" y="0"/>
                </a:lnTo>
                <a:lnTo>
                  <a:pt x="2143274"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DAG5PrlasNs</dc:identifier>
  <dcterms:modified xsi:type="dcterms:W3CDTF">2011-08-01T06:04:30Z</dcterms:modified>
  <cp:revision>1</cp:revision>
  <dc:title>PPT PROYEK DATA WRANGLING KEL 15</dc:title>
</cp:coreProperties>
</file>